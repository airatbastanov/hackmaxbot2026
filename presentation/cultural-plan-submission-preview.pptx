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Служебный лист не входит в продуктовый рассказ. Он сохраняет обязательные группы полей и точную проверенную версию приложения. Адрес размещения и рабочие значения отсутствуют; вход пользователя через MAX не требует отдельного логина приложения. Основание: локальный `Досугиразвлечения.pdf`, страницы 9–10; README приложения (https://github.com/AiratBastanov/HackMaxBot2026/blob/32127a01e126658599e0da4d0ca4de59af52752a/README.md), закрытый шаблон (https://github.com/AiratBastanov/HackMaxBot2026/blob/32127a01e126658599e0da4d0ca4de59af52752a/docs/PRIVATE_HANDOFF_TEMPLATE.md). Два публичных экспорта и закрытая передача — процедура проекта, не отдельное требование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сразу объяснить пользу: «Подбираем культурные события по времени, бюджету и составу посетителей, а выбранное сохраняем в MAX». ФИО взяты дословно из задания пользователя. Официальное полное название хакатона в предоставленном PDF не установлено, поэтому выбран нейтральный вариант «Хакатон MAX · 2026»; роли и название команды не придуманы. Основание обещания: README (https://github.com/AiratBastanov/HackMaxBot2026/blob/32127a01e126658599e0da4d0ca4de59af52752a/README.md).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показать конкретный контекст и отличие от ручного поиска. «Человеку нужны не все события города, а вариант в свободное окно и в бюджет. В диалоге условия сопоставляются явно, а выбор можно сохранить». Это аргументированное допущение, не интервью и не измерение времени. Основания: инвентаризация (https://github.com/AiratBastanov/HackMaxBot2026/blob/32127a01e126658599e0da4d0ca4de59af52752a/docs/SOURCE_INVENTORY.md), текущий сценарий (https://github.com/AiratBastanov/HackMaxBot2026/blob/32127a01e126658599e0da4d0ca4de59af52752a/README.md); критерии организатора, страница 12. Сравнение касается способов поиска, а не неподтверждённых недостатков конкурентов.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пройти путь от условий к выбранному и сохранённому событию. «Для одного взрослого в Казани, 27 сентября с 12 до 18 и до 500 ₽, в записанном запросе есть два совпадения. У выставки “Гелий Коржев. Свет и тень” известен взрослый билет 400 ₽; регистрацию и билеты ещё надо уточнить».</a:t>
            </a:r>
          </a:p>
          <a:p/>
          <a:p>
            <a:r>
              <a:t>Основания: записанные запросы (https://github.com/AiratBastanov/HackMaxBot2026/blob/32127a01e126658599e0da4d0ca4de59af52752a/docs/evidence/public-handoff/coverage.json), первый запрос; снимок (https://github.com/AiratBastanov/HackMaxBot2026/blob/32127a01e126658599e0da4d0ca4de59af52752a/catalog/real/e9f43ed9d1fd3c408584.json), соответствующее событие; тексты и кнопки (https://github.com/AiratBastanov/HackMaxBot2026/blob/32127a01e126658599e0da4d0ca4de59af52752a/src/culture/flow.ts), карточка (https://github.com/AiratBastanov/HackMaxBot2026/blob/32127a01e126658599e0da4d0ca4de59af52752a/src/culture/card.ts). Последний день выставки — 27.09.2026. Касса до 17:30 не подтверждает последний вход. Номер здания не установлен. Схемы сокращают полный экран; состояние «Сохранено» поддержано кодом, но не означает нового фактического сохранения человеком. Пример не является свежей рекомендацией на день просмотра. Закладка не покупает билет и не регистрирует посетителя.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объяснить семейный бюджет и два типа результата. «Неизвестный детский тариф не позволяет вычислить цену на всех. Пользователь сам решает, смотреть ли такие варианты». Для двух взрослых и ребёнка семи лет до 1500 ₽ в записанных запросах нет строгих совпадений в обоих городах. Это не означает отсутствия культурного досуга для семей вообще.</a:t>
            </a:r>
          </a:p>
          <a:p/>
          <a:p>
            <a:r>
              <a:t>Основания: инвентаризация (https://github.com/AiratBastanov/HackMaxBot2026/blob/32127a01e126658599e0da4d0ca4de59af52752a/docs/SOURCE_INVENTORY.md), запросы (https://github.com/AiratBastanov/HackMaxBot2026/blob/32127a01e126658599e0da4d0ca4de59af52752a/docs/evidence/public-handoff/coverage.json), логика экранов (https://github.com/AiratBastanov/HackMaxBot2026/blob/32127a01e126658599e0da4d0ca4de59af52752a/src/culture/flow.ts). Правая схема — объяснение связанных состояний, а не дословная копия одного сообщения. Часы работы, конкретный сеанс, касса и последний вход различаются; возрастная маркировка не доказывает допуск.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объяснить происхождение и обработку данных. «62 самостоятельных события дают 93 варианта посещения: 75 сеансов и 18 выставочных периодов. Выставки не размножаются по дням». Сбор 26.09.2026, местное окно 26.09–25.10.2026, пять источников, Казань и Екатеринбург.</a:t>
            </a:r>
          </a:p>
          <a:p/>
          <a:p>
            <a:r>
              <a:t>Основания: инвентаризация (https://github.com/AiratBastanov/HackMaxBot2026/blob/32127a01e126658599e0da4d0ca4de59af52752a/docs/SOURCE_INVENTORY.md), квитанция 21 (https://github.com/AiratBastanov/HackMaxBot2026/blob/32127a01e126658599e0da4d0ca4de59af52752a/docs/pivot/21_PUBLIC_ACCESS_CATALOG_AND_HANDOFF.md). Запуск сбора операторский; автоматического расписания и интеграции с API этих учреждений нет. Условия показа проверяются отдельно по источникам; публикация страницы не равна лицензии на весь контент. Статистика не доказывает, что все события ещё предстоят.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показать доступ и контроль над своим выбором. «Предварительное одобрение оператора не нужно. Закладки личные, удаление подтверждается отдельно». Два действия: запросить удаление, затем подтвердить; есть отмена. Хранятся также технические идентификаторы, поэтому анонимность не заявляется. История MAX и старые резервные копии отдельно не стираются.</a:t>
            </a:r>
          </a:p>
          <a:p/>
          <a:p>
            <a:r>
              <a:t>Основания: политика данных (https://github.com/AiratBastanov/HackMaxBot2026/blob/32127a01e126658599e0da4d0ca4de59af52752a/docs/PRIVACY.md), сценарий сохранения/удаления (https://github.com/AiratBastanov/HackMaxBot2026/blob/32127a01e126658599e0da4d0ca4de59af52752a/src/culture/flow.ts), квитанция 21 (https://github.com/AiratBastanov/HackMaxBot2026/blob/32127a01e126658599e0da4d0ca4de59af52752a/docs/pivot/21_PUBLIC_ACCESS_CATALOG_AND_HANDOFF.md). Схема списка — допустимое состояние, а не новый пользовательский снимок. Открытый режим приложения не доказывает постоянную доступность размещённого бота.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объяснить архитектуру через функции. «MAX принимает диалог, сервер обрабатывает условия, каталог даёт факты, SQLite хранит личные настройки и закладки». Технологии вынесены отдельно, чтобы не перегружать схему.</a:t>
            </a:r>
          </a:p>
          <a:p/>
          <a:p>
            <a:r>
              <a:t>Основания: README (https://github.com/AiratBastanov/HackMaxBot2026/blob/32127a01e126658599e0da4d0ca4de59af52752a/README.md), OpenAPI (https://github.com/AiratBastanov/HackMaxBot2026/blob/32127a01e126658599e0da4d0ca4de59af52752a/openapi.json), квитанция 21 (https://github.com/AiratBastanov/HackMaxBot2026/blob/32127a01e126658599e0da4d0ca4de59af52752a/docs/pivot/21_PUBLIC_ACCESS_CATALOG_AND_HANDOFF.md). Для оценки есть профиль опроса MAX; для постоянной работы подготовлен профиль вебхука. Диаграмма логическая: она не изображает уже размещённое облако или запущенный сейчас процесс.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связать тестирование с ценой ошибки для человека. «Проверяем, что неизвестная цена не станет обещанием, закладки переживут перезапуск, чужие данные не смешаются, а сбой будет понятен». В интерфейсе предусмотрены заметное сообщение о сохранении и отдельные сообщения об устаревшей карточке, неверном вводе или недоступных данных.</a:t>
            </a:r>
          </a:p>
          <a:p/>
          <a:p>
            <a:r>
              <a:t>Основания: квитанция 21 (https://github.com/AiratBastanov/HackMaxBot2026/blob/32127a01e126658599e0da4d0ca4de59af52752a/docs/pivot/21_PUBLIC_ACCESS_CATALOG_AND_HANDOFF.md), сводка проверки (https://github.com/AiratBastanov/HackMaxBot2026/blob/32127a01e126658599e0da4d0ca4de59af52752a/docs/evidence/public-handoff/verification.json), сообщения интерфейса (https://github.com/AiratBastanov/HackMaxBot2026/blob/32127a01e126658599e0da4d0ca4de59af52752a/src/culture/flow.ts). 257 — зафиксированный результат; последующие 29 проверок повторяют часть набора. Нового запуска тестов приложения в этой задаче нет. Автоматическое доказательство не объявлено человеческим наблюдением MAX. Измерение Docker сознательно не включено в рассказ: оно не доказывает постоянную доступность службы.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показать развитие с зависимостями. «Сначала полнота и тарифы в двух городах, затем новые источники и города, после — разрешённые API событийных сайтов и обновления по расписанию». Потребуются доступ, условия, полезные поля/фильтры и частота обновления; неполнота данных останется явной.</a:t>
            </a:r>
          </a:p>
          <a:p/>
          <a:p>
            <a:r>
              <a:t>Основания текущих границ: инвентаризация (https://github.com/AiratBastanov/HackMaxBot2026/blob/32127a01e126658599e0da4d0ca4de59af52752a/docs/SOURCE_INVENTORY.md), README (https://github.com/AiratBastanov/HackMaxBot2026/blob/32127a01e126658599e0da4d0ca4de59af52752a/README.md). Направление API явно запрошено пользователем; это будущий путь, не уже полученные ключи или партнёрство. Рост каталога отделён от ёмкости сервера: нагрузочные результаты и горизонтальное масштабирование не заявлены. Критерий организатора — страница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позитивно сформулировать эффект и способ проверки. «Сравним время до выбора и завершение одинакового задания; отдельно узнаем, оказался ли сохранённый вариант полезным». Само сохранение не доказывает намерения купить билет или фактического посещения.</a:t>
            </a:r>
          </a:p>
          <a:p/>
          <a:p>
            <a:r>
              <a:t>Основания статуса: README (https://github.com/AiratBastanov/HackMaxBot2026/blob/32127a01e126658599e0da4d0ca4de59af52752a/README.md); страницы 10, 12 и 17 задания. Все метрики предложены, пользовательский спрос и улучшения ещё не измерены. Это не заявление о внедрённой аналитике и не просьба провести исследование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показать материалы и порядок ознакомления. «Код, инструкция, данные и примеры позволяют повторить локальную оценку. В комплекте также презентация и применимые API-контракты». Подробные команды остаются в README.</a:t>
            </a:r>
          </a:p>
          <a:p/>
          <a:p>
            <a:r>
              <a:t>Основания: чек-лист (https://github.com/AiratBastanov/HackMaxBot2026/blob/32127a01e126658599e0da4d0ca4de59af52752a/docs/SUBMISSION_CHECKLIST.md), README (https://github.com/AiratBastanov/HackMaxBot2026/blob/32127a01e126658599e0da4d0ca4de59af52752a/README.md), OpenAPI (https://github.com/AiratBastanov/HackMaxBot2026/blob/32127a01e126658599e0da4d0ca4de59af52752a/openapi.json), DATA-API (https://github.com/AiratBastanov/HackMaxBot2026/blob/32127a01e126658599e0da4d0ca4de59af52752a/DATA-API.yaml), страницы 9–10 задания. Локальное демо использует синтетический каталог и симулятор MAX; Docker не заменяет работающий бот. Презентационный архив не является заново собранным полным комплектом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завершить рассказ возможностями и честными границами. «Подбор и личные закладки реализованы. Следующая работа — более полные данные и постоянная служба для оценки». Часть афиши, неизвестные цены/допуск, непроверенные билеты и операторское обновление остаются ограничениями.</a:t>
            </a:r>
          </a:p>
          <a:p/>
          <a:p>
            <a:r>
              <a:t>Основания: инвентаризация (https://github.com/AiratBastanov/HackMaxBot2026/blob/32127a01e126658599e0da4d0ca4de59af52752a/docs/SOURCE_INVENTORY.md), квитанция 21 (https://github.com/AiratBastanov/HackMaxBot2026/blob/32127a01e126658599e0da4d0ca4de59af52752a/docs/pivot/21_PUBLIC_ACCESS_CATALOG_AND_HANDOFF.md), текущий перечень клиентских утверждений (https://github.com/AiratBastanov/HackMaxBot2026/blob/32127a01e126658599e0da4d0ca4de59af52752a/docs/EXPLORATORY_MAX_RUNBOOK.md#c-текущий-assertion-ledger-и-ограниченная-delta). Новая проверка в мобильном и веб-клиенте отложена пользователем; старые наблюдения не выданы за проверку этой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дать читаемые ссылки на пять учреждений, документацию MAX, код и доказательства. Названия и адреса взяты из инвентаризации (https://github.com/AiratBastanov/HackMaxBot2026/blob/32127a01e126658599e0da4d0ca4de59af52752a/docs/SOURCE_INVENTORY.md) и реестра источников (https://github.com/AiratBastanov/HackMaxBot2026/blob/32127a01e126658599e0da4d0ca4de59af52752a/docs/00_REQUIREMENTS_AND_EVIDENCE.md). Требования прочитаны из локального оригинала; он не публикуется. Сайты афиши повторно не обходились. Логотипы, фотографии и редакционные описания учреждений не использованы; партнёрства не заявлены.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x.ru/t432_hakaton_max_bot" TargetMode="External"/><Relationship Id="rId3" Type="http://schemas.openxmlformats.org/officeDocument/2006/relationships/hyperlink" Target="https://github.com/AiratBastanov/HackMaxBot2026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kazan-kremlin.ru/" TargetMode="External"/><Relationship Id="rId3" Type="http://schemas.openxmlformats.org/officeDocument/2006/relationships/hyperlink" Target="https://tatmuseum.ru/events/" TargetMode="External"/><Relationship Id="rId4" Type="http://schemas.openxmlformats.org/officeDocument/2006/relationships/hyperlink" Target="https://m-i-e.ru/" TargetMode="External"/><Relationship Id="rId5" Type="http://schemas.openxmlformats.org/officeDocument/2006/relationships/hyperlink" Target="https://uralopera.ru/" TargetMode="External"/><Relationship Id="rId6" Type="http://schemas.openxmlformats.org/officeDocument/2006/relationships/hyperlink" Target="https://sgaf.ru/" TargetMode="External"/><Relationship Id="rId7" Type="http://schemas.openxmlformats.org/officeDocument/2006/relationships/hyperlink" Target="https://dev.max.ru/docs-api" TargetMode="External"/><Relationship Id="rId8" Type="http://schemas.openxmlformats.org/officeDocument/2006/relationships/hyperlink" Target="https://github.com/AiratBastanov/HackMaxBot2026" TargetMode="External"/><Relationship Id="rId9" Type="http://schemas.openxmlformats.org/officeDocument/2006/relationships/hyperlink" Target="https://github.com/AiratBastanov/HackMaxBot2026/blob/32127a01e126658599e0da4d0ca4de59af52752a/docs/SOURCE_INVENTORY.md" TargetMode="External"/><Relationship Id="rId10" Type="http://schemas.openxmlformats.org/officeDocument/2006/relationships/hyperlink" Target="https://github.com/AiratBastanov/HackMaxBot2026/blob/32127a01e126658599e0da4d0ca4de59af52752a/docs/pivot/21_PUBLIC_ACCESS_CATALOG_AND_HANDOFF.md" TargetMode="External"/><Relationship Id="rId11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00 · Технические сведения для проверк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Технические сведения для проверки</a:t>
            </a:r>
          </a:p>
        </p:txBody>
      </p:sp>
      <p:sp>
        <p:nvSpPr>
          <p:cNvPr id="3" name="T00 · Предпросмотр структуры сдачи · без рабочих секретов"/>
          <p:cNvSpPr txBox="1"/>
          <p:nvPr/>
        </p:nvSpPr>
        <p:spPr>
          <a:xfrm>
            <a:off x="609600" y="1092200"/>
            <a:ext cx="109728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47616B"/>
                </a:solidFill>
                <a:latin typeface="Segoe UI"/>
              </a:rPr>
              <a:t>Предпросмотр структуры сдачи · без рабочих секретов</a:t>
            </a:r>
          </a:p>
        </p:txBody>
      </p:sp>
      <p:sp>
        <p:nvSpPr>
          <p:cNvPr id="4" name="T00 · Блок 3"/>
          <p:cNvSpPr/>
          <p:nvPr/>
        </p:nvSpPr>
        <p:spPr>
          <a:xfrm>
            <a:off x="7366000" y="1587500"/>
            <a:ext cx="4216400" cy="3898900"/>
          </a:xfrm>
          <a:prstGeom prst="rect">
            <a:avLst/>
          </a:prstGeom>
          <a:solidFill>
            <a:srgbClr val="E1F0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00 · 01  Бот в MAX"/>
          <p:cNvSpPr txBox="1"/>
          <p:nvPr/>
        </p:nvSpPr>
        <p:spPr>
          <a:xfrm>
            <a:off x="609600" y="1612900"/>
            <a:ext cx="64643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01 Бот в MAX</a:t>
            </a:r>
          </a:p>
        </p:txBody>
      </p:sp>
      <p:sp>
        <p:nvSpPr>
          <p:cNvPr id="6" name="T00 · https://max.ru/t432_hakaton_max_bot">
            <a:hlinkClick r:id="rId2"/>
          </p:cNvPr>
          <p:cNvSpPr txBox="1"/>
          <p:nvPr/>
        </p:nvSpPr>
        <p:spPr>
          <a:xfrm>
            <a:off x="609600" y="2070100"/>
            <a:ext cx="64643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https://max.ru/t432_hakaton_max_bot</a:t>
            </a:r>
          </a:p>
        </p:txBody>
      </p:sp>
      <p:sp>
        <p:nvSpPr>
          <p:cNvPr id="7" name="T00 · Постоянная доступность пока не подтверждена"/>
          <p:cNvSpPr txBox="1"/>
          <p:nvPr/>
        </p:nvSpPr>
        <p:spPr>
          <a:xfrm>
            <a:off x="609600" y="2413000"/>
            <a:ext cx="64643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0" i="0" u="none" lang="ru-RU" kern="120000">
                <a:solidFill>
                  <a:srgbClr val="47616B"/>
                </a:solidFill>
                <a:latin typeface="Segoe UI"/>
              </a:rPr>
              <a:t>Постоянная доступность пока не подтверждена</a:t>
            </a:r>
          </a:p>
        </p:txBody>
      </p:sp>
      <p:sp>
        <p:nvSpPr>
          <p:cNvPr id="8" name="T00 · 02  Исходный код"/>
          <p:cNvSpPr txBox="1"/>
          <p:nvPr/>
        </p:nvSpPr>
        <p:spPr>
          <a:xfrm>
            <a:off x="609600" y="2946400"/>
            <a:ext cx="64643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02 Исходный код</a:t>
            </a:r>
          </a:p>
        </p:txBody>
      </p:sp>
      <p:sp>
        <p:nvSpPr>
          <p:cNvPr id="9" name="T00 · github.com/AiratBastanov/HackMaxBot2026">
            <a:hlinkClick r:id="rId3"/>
          </p:cNvPr>
          <p:cNvSpPr txBox="1"/>
          <p:nvPr/>
        </p:nvSpPr>
        <p:spPr>
          <a:xfrm>
            <a:off x="609600" y="3390900"/>
            <a:ext cx="64643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github.com/AiratBastanov/HackMaxBot2026</a:t>
            </a:r>
          </a:p>
        </p:txBody>
      </p:sp>
      <p:sp>
        <p:nvSpPr>
          <p:cNvPr id="10" name="T00 · Проверенная версия приложения"/>
          <p:cNvSpPr txBox="1"/>
          <p:nvPr/>
        </p:nvSpPr>
        <p:spPr>
          <a:xfrm>
            <a:off x="609600" y="3771900"/>
            <a:ext cx="64643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0" i="0" u="none" lang="ru-RU" kern="120000">
                <a:solidFill>
                  <a:srgbClr val="47616B"/>
                </a:solidFill>
                <a:latin typeface="Segoe UI"/>
              </a:rPr>
              <a:t>Проверенная версия приложения</a:t>
            </a:r>
          </a:p>
        </p:txBody>
      </p:sp>
      <p:sp>
        <p:nvSpPr>
          <p:cNvPr id="11" name="T00 · 32127a01e126658599e0da4d0ca4de59af52752a"/>
          <p:cNvSpPr txBox="1"/>
          <p:nvPr/>
        </p:nvSpPr>
        <p:spPr>
          <a:xfrm>
            <a:off x="609600" y="4064000"/>
            <a:ext cx="64643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1" i="0" u="none" lang="ru-RU" kern="120000">
                <a:solidFill>
                  <a:srgbClr val="142F3D"/>
                </a:solidFill>
                <a:latin typeface="Segoe UI"/>
              </a:rPr>
              <a:t>32127a01e126658599e0da4d0ca4de59af52752a</a:t>
            </a:r>
          </a:p>
        </p:txBody>
      </p:sp>
      <p:sp>
        <p:nvSpPr>
          <p:cNvPr id="12" name="T00 · 03  Адрес и поверхность API"/>
          <p:cNvSpPr txBox="1"/>
          <p:nvPr/>
        </p:nvSpPr>
        <p:spPr>
          <a:xfrm>
            <a:off x="609600" y="4559300"/>
            <a:ext cx="64643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03 Адрес и поверхность API</a:t>
            </a:r>
          </a:p>
        </p:txBody>
      </p:sp>
      <p:sp>
        <p:nvSpPr>
          <p:cNvPr id="13" name="T00 · Публичный HTTPS-адрес пока не задан."/>
          <p:cNvSpPr txBox="1"/>
          <p:nvPr/>
        </p:nvSpPr>
        <p:spPr>
          <a:xfrm>
            <a:off x="609600" y="4953000"/>
            <a:ext cx="6464300" cy="766079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Публичный HTTPS-адрес пока не задан.</a:t>
            </a:r>
            <a:br/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HTTP: проверка доступности и вебхук.</a:t>
            </a:r>
            <a:br/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Отдельного бизнес-API нет; есть OpenAPI.</a:t>
            </a:r>
          </a:p>
        </p:txBody>
      </p:sp>
      <p:sp>
        <p:nvSpPr>
          <p:cNvPr id="14" name="T00 · 04  Тестовый доступ"/>
          <p:cNvSpPr txBox="1"/>
          <p:nvPr/>
        </p:nvSpPr>
        <p:spPr>
          <a:xfrm>
            <a:off x="7620000" y="1790700"/>
            <a:ext cx="37084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04 Тестовый доступ</a:t>
            </a:r>
          </a:p>
        </p:txBody>
      </p:sp>
      <p:sp>
        <p:nvSpPr>
          <p:cNvPr id="15" name="T00 · Логин и пароль приложения не нужны."/>
          <p:cNvSpPr txBox="1"/>
          <p:nvPr/>
        </p:nvSpPr>
        <p:spPr>
          <a:xfrm>
            <a:off x="7620000" y="2222500"/>
            <a:ext cx="3708400" cy="766079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Логин и пароль приложения не нужны.</a:t>
            </a:r>
            <a:br/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Пользователь входит через MAX.</a:t>
            </a:r>
            <a:br/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Локальное демо работает без токенов.</a:t>
            </a:r>
          </a:p>
        </p:txBody>
      </p:sp>
      <p:sp>
        <p:nvSpPr>
          <p:cNvPr id="16" name="T00 · 05  Окружение и закрытые значения"/>
          <p:cNvSpPr txBox="1"/>
          <p:nvPr/>
        </p:nvSpPr>
        <p:spPr>
          <a:xfrm>
            <a:off x="7620000" y="3467100"/>
            <a:ext cx="3708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05 Окружение и закрытые</a:t>
            </a:r>
            <a:br/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значения</a:t>
            </a:r>
          </a:p>
        </p:txBody>
      </p:sp>
      <p:sp>
        <p:nvSpPr>
          <p:cNvPr id="17" name="T00 · Токен MAX и секрет вебхука —"/>
          <p:cNvSpPr txBox="1"/>
          <p:nvPr/>
        </p:nvSpPr>
        <p:spPr>
          <a:xfrm>
            <a:off x="7620000" y="4152900"/>
            <a:ext cx="3708400" cy="1104151"/>
          </a:xfrm>
          <a:prstGeom prst="rect">
            <a:avLst/>
          </a:prstGeom>
          <a:noFill/>
        </p:spPr>
        <p:txBody>
          <a:bodyPr wrap="none" lIns="0" rIns="0" tIns="2844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400">
                <a:latin typeface="Segoe UI"/>
              </a:defRPr>
            </a:pPr>
            <a:r>
              <a:rPr sz="1400" b="0" i="0" u="none" lang="ru-RU" kern="120000">
                <a:solidFill>
                  <a:srgbClr val="142F3D"/>
                </a:solidFill>
                <a:latin typeface="Segoe UI"/>
              </a:rPr>
              <a:t>Токен MAX и секрет вебхука —</a:t>
            </a:r>
            <a:br/>
            <a:r>
              <a:rPr sz="1400" b="0" i="0" u="none" lang="ru-RU" kern="120000">
                <a:solidFill>
                  <a:srgbClr val="142F3D"/>
                </a:solidFill>
                <a:latin typeface="Segoe UI"/>
              </a:rPr>
              <a:t>только в закрытой передаче.</a:t>
            </a:r>
            <a:br/>
            <a:r>
              <a:rPr sz="1400" b="0" i="0" u="none" lang="ru-RU" kern="120000">
                <a:solidFill>
                  <a:srgbClr val="142F3D"/>
                </a:solidFill>
                <a:latin typeface="Segoe UI"/>
              </a:rPr>
              <a:t>PUBLIC_HOST, PUBLIC_BASE_URL,</a:t>
            </a:r>
            <a:br/>
            <a:r>
              <a:rPr sz="1400" b="0" i="0" u="none" lang="ru-RU" kern="120000">
                <a:solidFill>
                  <a:srgbClr val="142F3D"/>
                </a:solidFill>
                <a:latin typeface="Segoe UI"/>
              </a:rPr>
              <a:t>ACME_EMAIL — пока не заданы.</a:t>
            </a:r>
            <a:br/>
            <a:r>
              <a:rPr sz="1400" b="0" i="0" u="none" lang="ru-RU" kern="120000">
                <a:solidFill>
                  <a:srgbClr val="142F3D"/>
                </a:solidFill>
                <a:latin typeface="Segoe UI"/>
              </a:rPr>
              <a:t>Оператор и период оценки — не заданы.</a:t>
            </a:r>
          </a:p>
        </p:txBody>
      </p:sp>
      <p:sp>
        <p:nvSpPr>
          <p:cNvPr id="18" name="T00 · 06  Основной сценарий"/>
          <p:cNvSpPr txBox="1"/>
          <p:nvPr/>
        </p:nvSpPr>
        <p:spPr>
          <a:xfrm>
            <a:off x="609600" y="5930900"/>
            <a:ext cx="28575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06 Основной сценарий</a:t>
            </a:r>
          </a:p>
        </p:txBody>
      </p:sp>
      <p:sp>
        <p:nvSpPr>
          <p:cNvPr id="19" name="T00 · Задать город, дату, время, состав и бюджет. Выбрать событие, уточнить "/>
          <p:cNvSpPr txBox="1"/>
          <p:nvPr/>
        </p:nvSpPr>
        <p:spPr>
          <a:xfrm>
            <a:off x="3594100" y="5867400"/>
            <a:ext cx="79883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Задать город, дату, время, состав и бюджет. Выбрать событие, уточнить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условия, сохранить и открыть его в «Моих событиях».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1 · Блок 1"/>
          <p:cNvSpPr/>
          <p:nvPr/>
        </p:nvSpPr>
        <p:spPr>
          <a:xfrm>
            <a:off x="7975600" y="0"/>
            <a:ext cx="4216400" cy="6858000"/>
          </a:xfrm>
          <a:prstGeom prst="rect">
            <a:avLst/>
          </a:prstGeom>
          <a:solidFill>
            <a:srgbClr val="E1F0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P01 · Культурный"/>
          <p:cNvSpPr txBox="1"/>
          <p:nvPr/>
        </p:nvSpPr>
        <p:spPr>
          <a:xfrm>
            <a:off x="609600" y="736600"/>
            <a:ext cx="7137400" cy="2003363"/>
          </a:xfrm>
          <a:prstGeom prst="rect">
            <a:avLst/>
          </a:prstGeom>
          <a:noFill/>
        </p:spPr>
        <p:txBody>
          <a:bodyPr wrap="none" lIns="0" rIns="0" tIns="210689" bIns="0" anchor="t">
            <a:noAutofit/>
          </a:bodyPr>
          <a:lstStyle/>
          <a:p>
            <a:pPr algn="l">
              <a:lnSpc>
                <a:spcPct val="88333"/>
              </a:lnSpc>
              <a:spcBef>
                <a:spcPts val="0"/>
              </a:spcBef>
              <a:spcAft>
                <a:spcPts val="0"/>
              </a:spcAft>
              <a:defRPr sz="6600">
                <a:latin typeface="Segoe UI"/>
              </a:defRPr>
            </a:pPr>
            <a:r>
              <a:rPr sz="6600" b="1" i="0" u="none" lang="ru-RU" kern="120000">
                <a:solidFill>
                  <a:srgbClr val="FFFFFF"/>
                </a:solidFill>
                <a:latin typeface="Segoe UI"/>
              </a:rPr>
              <a:t>Культурный</a:t>
            </a:r>
            <a:br/>
            <a:r>
              <a:rPr sz="6600" b="1" i="0" u="none" lang="ru-RU" kern="120000">
                <a:solidFill>
                  <a:srgbClr val="FFFFFF"/>
                </a:solidFill>
                <a:latin typeface="Segoe UI"/>
              </a:rPr>
              <a:t>план</a:t>
            </a:r>
          </a:p>
        </p:txBody>
      </p:sp>
      <p:sp>
        <p:nvSpPr>
          <p:cNvPr id="4" name="P01 · Культурные события по вашему времени, бюджету и составу посетителей"/>
          <p:cNvSpPr txBox="1"/>
          <p:nvPr/>
        </p:nvSpPr>
        <p:spPr>
          <a:xfrm>
            <a:off x="647700" y="3073400"/>
            <a:ext cx="6464300" cy="809649"/>
          </a:xfrm>
          <a:prstGeom prst="rect">
            <a:avLst/>
          </a:prstGeom>
          <a:noFill/>
        </p:spPr>
        <p:txBody>
          <a:bodyPr wrap="none" lIns="0" rIns="0" tIns="5080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500">
                <a:latin typeface="Segoe UI"/>
              </a:defRPr>
            </a:pPr>
            <a:r>
              <a:rPr sz="2500" b="0" i="0" u="none" lang="ru-RU" kern="120000">
                <a:solidFill>
                  <a:srgbClr val="C4DCDA"/>
                </a:solidFill>
                <a:latin typeface="Segoe UI"/>
              </a:rPr>
              <a:t>Культурные события по вашему времени,</a:t>
            </a:r>
            <a:br/>
            <a:r>
              <a:rPr sz="2500" b="0" i="0" u="none" lang="ru-RU" kern="120000">
                <a:solidFill>
                  <a:srgbClr val="C4DCDA"/>
                </a:solidFill>
                <a:latin typeface="Segoe UI"/>
              </a:rPr>
              <a:t>бюджету и составу посетителей</a:t>
            </a:r>
          </a:p>
        </p:txBody>
      </p:sp>
      <p:sp>
        <p:nvSpPr>
          <p:cNvPr id="5" name="P01 · Участники"/>
          <p:cNvSpPr txBox="1"/>
          <p:nvPr/>
        </p:nvSpPr>
        <p:spPr>
          <a:xfrm>
            <a:off x="647700" y="4851400"/>
            <a:ext cx="65405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C4DCDA"/>
                </a:solidFill>
                <a:latin typeface="Segoe UI"/>
              </a:rPr>
              <a:t>Участники</a:t>
            </a:r>
          </a:p>
        </p:txBody>
      </p:sp>
      <p:sp>
        <p:nvSpPr>
          <p:cNvPr id="6" name="P01 · Садыков Булат"/>
          <p:cNvSpPr txBox="1"/>
          <p:nvPr/>
        </p:nvSpPr>
        <p:spPr>
          <a:xfrm>
            <a:off x="647700" y="52324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Садыков Булат</a:t>
            </a:r>
          </a:p>
        </p:txBody>
      </p:sp>
      <p:sp>
        <p:nvSpPr>
          <p:cNvPr id="7" name="P01 · Бастанов Айрат"/>
          <p:cNvSpPr txBox="1"/>
          <p:nvPr/>
        </p:nvSpPr>
        <p:spPr>
          <a:xfrm>
            <a:off x="647700" y="56007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Бастанов Айрат</a:t>
            </a:r>
          </a:p>
        </p:txBody>
      </p:sp>
      <p:sp>
        <p:nvSpPr>
          <p:cNvPr id="8" name="P01 · Белова Маргарита"/>
          <p:cNvSpPr txBox="1"/>
          <p:nvPr/>
        </p:nvSpPr>
        <p:spPr>
          <a:xfrm>
            <a:off x="647700" y="59690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Белова Маргарита</a:t>
            </a:r>
          </a:p>
        </p:txBody>
      </p:sp>
      <p:sp>
        <p:nvSpPr>
          <p:cNvPr id="9" name="P01 · Блок 8"/>
          <p:cNvSpPr/>
          <p:nvPr/>
        </p:nvSpPr>
        <p:spPr>
          <a:xfrm>
            <a:off x="8458200" y="800100"/>
            <a:ext cx="3136900" cy="3556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pSp>
        <p:nvGrpSpPr>
          <p:cNvPr id="27" name="P01 · Блок схемы"/>
          <p:cNvGrpSpPr/>
          <p:nvPr/>
        </p:nvGrpSpPr>
        <p:grpSpPr>
          <a:xfrm>
            <a:off x="8318500" y="660400"/>
            <a:ext cx="3136900" cy="3556000"/>
            <a:chOff x="8318500" y="660400"/>
            <a:chExt cx="3136900" cy="3556000"/>
          </a:xfrm>
        </p:grpSpPr>
        <p:sp>
          <p:nvSpPr>
            <p:cNvPr id="10" name="P01 · Блок 9"/>
            <p:cNvSpPr/>
            <p:nvPr/>
          </p:nvSpPr>
          <p:spPr>
            <a:xfrm>
              <a:off x="8318500" y="660400"/>
              <a:ext cx="3136900" cy="3556000"/>
            </a:xfrm>
            <a:prstGeom prst="rect">
              <a:avLst/>
            </a:prstGeom>
            <a:solidFill>
              <a:srgbClr val="F8F5E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P01 · Блок 10"/>
            <p:cNvSpPr/>
            <p:nvPr/>
          </p:nvSpPr>
          <p:spPr>
            <a:xfrm>
              <a:off x="8318500" y="660400"/>
              <a:ext cx="3136900" cy="6731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" name="P01 · Блок 11"/>
          <p:cNvSpPr/>
          <p:nvPr/>
        </p:nvSpPr>
        <p:spPr>
          <a:xfrm>
            <a:off x="8699500" y="495300"/>
            <a:ext cx="88900" cy="381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P01 · Блок 12"/>
          <p:cNvSpPr/>
          <p:nvPr/>
        </p:nvSpPr>
        <p:spPr>
          <a:xfrm>
            <a:off x="10960100" y="495300"/>
            <a:ext cx="88900" cy="381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P01 · Ваш выходной"/>
          <p:cNvSpPr txBox="1"/>
          <p:nvPr/>
        </p:nvSpPr>
        <p:spPr>
          <a:xfrm>
            <a:off x="8559800" y="825500"/>
            <a:ext cx="2667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Ваш выходной</a:t>
            </a:r>
          </a:p>
        </p:txBody>
      </p:sp>
      <p:sp>
        <p:nvSpPr>
          <p:cNvPr id="15" name="P01 · 27"/>
          <p:cNvSpPr txBox="1"/>
          <p:nvPr/>
        </p:nvSpPr>
        <p:spPr>
          <a:xfrm>
            <a:off x="8559800" y="1333500"/>
            <a:ext cx="2590800" cy="1554063"/>
          </a:xfrm>
          <a:prstGeom prst="rect">
            <a:avLst/>
          </a:prstGeom>
          <a:noFill/>
        </p:spPr>
        <p:txBody>
          <a:bodyPr wrap="none" lIns="0" rIns="0" tIns="1869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9200">
                <a:latin typeface="Segoe UI"/>
              </a:defRPr>
            </a:pPr>
            <a:r>
              <a:rPr sz="9200" b="1" i="0" u="none" lang="ru-RU" kern="120000">
                <a:solidFill>
                  <a:srgbClr val="142F3D"/>
                </a:solidFill>
                <a:latin typeface="Segoe UI"/>
              </a:rPr>
              <a:t>27</a:t>
            </a:r>
          </a:p>
        </p:txBody>
      </p:sp>
      <p:sp>
        <p:nvSpPr>
          <p:cNvPr id="16" name="P01 · сентября"/>
          <p:cNvSpPr txBox="1"/>
          <p:nvPr/>
        </p:nvSpPr>
        <p:spPr>
          <a:xfrm>
            <a:off x="8623300" y="3035300"/>
            <a:ext cx="25781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0" i="0" u="none" lang="ru-RU" kern="120000">
                <a:solidFill>
                  <a:srgbClr val="142F3D"/>
                </a:solidFill>
                <a:latin typeface="Segoe UI"/>
              </a:rPr>
              <a:t>сентября</a:t>
            </a:r>
          </a:p>
        </p:txBody>
      </p:sp>
      <p:cxnSp>
        <p:nvCxnSpPr>
          <p:cNvPr id="17" name="P01 · Соединитель 16"/>
          <p:cNvCxnSpPr/>
          <p:nvPr/>
        </p:nvCxnSpPr>
        <p:spPr>
          <a:xfrm>
            <a:off x="8597900" y="3543300"/>
            <a:ext cx="2578100" cy="0"/>
          </a:xfrm>
          <a:prstGeom prst="line">
            <a:avLst/>
          </a:prstGeom>
          <a:ln w="15240">
            <a:solidFill>
              <a:srgbClr val="BCD0CF"/>
            </a:solidFill>
          </a:ln>
          <a:effectLst/>
        </p:spPr>
      </p:cxnSp>
      <p:sp>
        <p:nvSpPr>
          <p:cNvPr id="18" name="P01 · Время для культуры"/>
          <p:cNvSpPr txBox="1"/>
          <p:nvPr/>
        </p:nvSpPr>
        <p:spPr>
          <a:xfrm>
            <a:off x="8597900" y="3721100"/>
            <a:ext cx="2717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Время для культуры</a:t>
            </a:r>
          </a:p>
        </p:txBody>
      </p:sp>
      <p:sp>
        <p:nvSpPr>
          <p:cNvPr id="19" name="P01 · Блок 18"/>
          <p:cNvSpPr/>
          <p:nvPr/>
        </p:nvSpPr>
        <p:spPr>
          <a:xfrm>
            <a:off x="8318500" y="4533900"/>
            <a:ext cx="990600" cy="4318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P01 · Когда"/>
          <p:cNvSpPr txBox="1"/>
          <p:nvPr/>
        </p:nvSpPr>
        <p:spPr>
          <a:xfrm>
            <a:off x="83820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FFFFFF"/>
                </a:solidFill>
                <a:latin typeface="Segoe UI"/>
              </a:rPr>
              <a:t>Когда</a:t>
            </a:r>
          </a:p>
        </p:txBody>
      </p:sp>
      <p:sp>
        <p:nvSpPr>
          <p:cNvPr id="21" name="P01 · Блок 20"/>
          <p:cNvSpPr/>
          <p:nvPr/>
        </p:nvSpPr>
        <p:spPr>
          <a:xfrm>
            <a:off x="9410700" y="4533900"/>
            <a:ext cx="990600" cy="431800"/>
          </a:xfrm>
          <a:prstGeom prst="rect">
            <a:avLst/>
          </a:prstGeom>
          <a:solidFill>
            <a:srgbClr val="F8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P01 · С кем"/>
          <p:cNvSpPr txBox="1"/>
          <p:nvPr/>
        </p:nvSpPr>
        <p:spPr>
          <a:xfrm>
            <a:off x="94742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С кем</a:t>
            </a:r>
          </a:p>
        </p:txBody>
      </p:sp>
      <p:sp>
        <p:nvSpPr>
          <p:cNvPr id="23" name="P01 · Блок 22"/>
          <p:cNvSpPr/>
          <p:nvPr/>
        </p:nvSpPr>
        <p:spPr>
          <a:xfrm>
            <a:off x="10502900" y="4533900"/>
            <a:ext cx="990600" cy="431800"/>
          </a:xfrm>
          <a:prstGeom prst="rect">
            <a:avLst/>
          </a:prstGeom>
          <a:solidFill>
            <a:srgbClr val="F8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P01 · Бюджет"/>
          <p:cNvSpPr txBox="1"/>
          <p:nvPr/>
        </p:nvSpPr>
        <p:spPr>
          <a:xfrm>
            <a:off x="105664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Бюджет</a:t>
            </a:r>
          </a:p>
        </p:txBody>
      </p:sp>
      <p:sp>
        <p:nvSpPr>
          <p:cNvPr id="25" name="P01 · Хакатон MAX · 2026"/>
          <p:cNvSpPr txBox="1"/>
          <p:nvPr/>
        </p:nvSpPr>
        <p:spPr>
          <a:xfrm>
            <a:off x="8318500" y="5575300"/>
            <a:ext cx="33401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42F3D"/>
                </a:solidFill>
                <a:latin typeface="Segoe UI"/>
              </a:rPr>
              <a:t>Хакатон MAX · 2026</a:t>
            </a:r>
          </a:p>
        </p:txBody>
      </p:sp>
      <p:sp>
        <p:nvSpPr>
          <p:cNvPr id="26" name="P01 · Трек «Досуг и развлечения»"/>
          <p:cNvSpPr txBox="1"/>
          <p:nvPr/>
        </p:nvSpPr>
        <p:spPr>
          <a:xfrm>
            <a:off x="8318500" y="6070600"/>
            <a:ext cx="33401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Трек «Досуг и развлечения»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2 · Выбрать событие — значит сверить условия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Выбрать событие — значит сверить условия</a:t>
            </a:r>
          </a:p>
        </p:txBody>
      </p:sp>
      <p:sp>
        <p:nvSpPr>
          <p:cNvPr id="3" name="P02 · Житель города планирует воскресенье: свободен с 12 до 18, на вход — до"/>
          <p:cNvSpPr txBox="1"/>
          <p:nvPr/>
        </p:nvSpPr>
        <p:spPr>
          <a:xfrm>
            <a:off x="609600" y="11811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Житель города планирует воскресенье: свободен с 12 до 18, на вход — до 500 ₽</a:t>
            </a:r>
          </a:p>
        </p:txBody>
      </p:sp>
      <p:sp>
        <p:nvSpPr>
          <p:cNvPr id="4" name="P02 · Блок 3"/>
          <p:cNvSpPr/>
          <p:nvPr/>
        </p:nvSpPr>
        <p:spPr>
          <a:xfrm>
            <a:off x="609600" y="2070100"/>
            <a:ext cx="5257800" cy="4203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P02 · Блок 4"/>
          <p:cNvSpPr/>
          <p:nvPr/>
        </p:nvSpPr>
        <p:spPr>
          <a:xfrm>
            <a:off x="6324600" y="2070100"/>
            <a:ext cx="5257800" cy="4203700"/>
          </a:xfrm>
          <a:prstGeom prst="rect">
            <a:avLst/>
          </a:prstGeom>
          <a:solidFill>
            <a:srgbClr val="E1F0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P02 · Самостоятельный"/>
          <p:cNvSpPr txBox="1"/>
          <p:nvPr/>
        </p:nvSpPr>
        <p:spPr>
          <a:xfrm>
            <a:off x="914400" y="2286000"/>
            <a:ext cx="4635500" cy="842035"/>
          </a:xfrm>
          <a:prstGeom prst="rect">
            <a:avLst/>
          </a:prstGeom>
          <a:noFill/>
        </p:spPr>
        <p:txBody>
          <a:bodyPr wrap="none" lIns="0" rIns="0" tIns="5283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600">
                <a:latin typeface="Segoe UI"/>
              </a:defRPr>
            </a:pPr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Самостоятельный</a:t>
            </a:r>
            <a:br/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поиск по сайтам</a:t>
            </a:r>
          </a:p>
        </p:txBody>
      </p:sp>
      <p:sp>
        <p:nvSpPr>
          <p:cNvPr id="7" name="P02 · Подбор"/>
          <p:cNvSpPr txBox="1"/>
          <p:nvPr/>
        </p:nvSpPr>
        <p:spPr>
          <a:xfrm>
            <a:off x="6629400" y="2286000"/>
            <a:ext cx="4635500" cy="842035"/>
          </a:xfrm>
          <a:prstGeom prst="rect">
            <a:avLst/>
          </a:prstGeom>
          <a:noFill/>
        </p:spPr>
        <p:txBody>
          <a:bodyPr wrap="none" lIns="0" rIns="0" tIns="5283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600">
                <a:latin typeface="Segoe UI"/>
              </a:defRPr>
            </a:pPr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Подбор</a:t>
            </a:r>
            <a:br/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в одном диалоге</a:t>
            </a:r>
          </a:p>
        </p:txBody>
      </p:sp>
      <p:sp>
        <p:nvSpPr>
          <p:cNvPr id="8" name="P02 · 01"/>
          <p:cNvSpPr txBox="1"/>
          <p:nvPr/>
        </p:nvSpPr>
        <p:spPr>
          <a:xfrm>
            <a:off x="914400" y="33909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9" name="P02 · Открыть страницы"/>
          <p:cNvSpPr txBox="1"/>
          <p:nvPr/>
        </p:nvSpPr>
        <p:spPr>
          <a:xfrm>
            <a:off x="1524000" y="33909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Открыть страницы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разных учреждений</a:t>
            </a:r>
          </a:p>
        </p:txBody>
      </p:sp>
      <p:cxnSp>
        <p:nvCxnSpPr>
          <p:cNvPr id="10" name="P02 · Соединитель 9"/>
          <p:cNvCxnSpPr/>
          <p:nvPr/>
        </p:nvCxnSpPr>
        <p:spPr>
          <a:xfrm>
            <a:off x="914400" y="41656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1" name="P02 · 01"/>
          <p:cNvSpPr txBox="1"/>
          <p:nvPr/>
        </p:nvSpPr>
        <p:spPr>
          <a:xfrm>
            <a:off x="6629400" y="33909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12" name="P02 · Сравнить собранные факты"/>
          <p:cNvSpPr txBox="1"/>
          <p:nvPr/>
        </p:nvSpPr>
        <p:spPr>
          <a:xfrm>
            <a:off x="7239000" y="33909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Сравнить собранные факты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 прямыми ссылками</a:t>
            </a:r>
          </a:p>
        </p:txBody>
      </p:sp>
      <p:cxnSp>
        <p:nvCxnSpPr>
          <p:cNvPr id="13" name="P02 · Соединитель 12"/>
          <p:cNvCxnSpPr/>
          <p:nvPr/>
        </p:nvCxnSpPr>
        <p:spPr>
          <a:xfrm>
            <a:off x="6629400" y="41656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4" name="P02 · 02"/>
          <p:cNvSpPr txBox="1"/>
          <p:nvPr/>
        </p:nvSpPr>
        <p:spPr>
          <a:xfrm>
            <a:off x="914400" y="43053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5" name="P02 · Вручную сопоставить"/>
          <p:cNvSpPr txBox="1"/>
          <p:nvPr/>
        </p:nvSpPr>
        <p:spPr>
          <a:xfrm>
            <a:off x="1524000" y="43053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Вручную сопоставить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время и стоимость входа</a:t>
            </a:r>
          </a:p>
        </p:txBody>
      </p:sp>
      <p:cxnSp>
        <p:nvCxnSpPr>
          <p:cNvPr id="16" name="P02 · Соединитель 15"/>
          <p:cNvCxnSpPr/>
          <p:nvPr/>
        </p:nvCxnSpPr>
        <p:spPr>
          <a:xfrm>
            <a:off x="914400" y="50800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7" name="P02 · 02"/>
          <p:cNvSpPr txBox="1"/>
          <p:nvPr/>
        </p:nvSpPr>
        <p:spPr>
          <a:xfrm>
            <a:off x="6629400" y="43053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8" name="P02 · Увидеть совпадения"/>
          <p:cNvSpPr txBox="1"/>
          <p:nvPr/>
        </p:nvSpPr>
        <p:spPr>
          <a:xfrm>
            <a:off x="7239000" y="43053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Увидеть совпадения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и условия для уточнения</a:t>
            </a:r>
          </a:p>
        </p:txBody>
      </p:sp>
      <p:cxnSp>
        <p:nvCxnSpPr>
          <p:cNvPr id="19" name="P02 · Соединитель 18"/>
          <p:cNvCxnSpPr/>
          <p:nvPr/>
        </p:nvCxnSpPr>
        <p:spPr>
          <a:xfrm>
            <a:off x="6629400" y="50800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20" name="P02 · 03"/>
          <p:cNvSpPr txBox="1"/>
          <p:nvPr/>
        </p:nvSpPr>
        <p:spPr>
          <a:xfrm>
            <a:off x="914400" y="52197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1" name="P02 · Снова искать"/>
          <p:cNvSpPr txBox="1"/>
          <p:nvPr/>
        </p:nvSpPr>
        <p:spPr>
          <a:xfrm>
            <a:off x="1524000" y="52197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Снова искать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понравившееся событие</a:t>
            </a:r>
          </a:p>
        </p:txBody>
      </p:sp>
      <p:sp>
        <p:nvSpPr>
          <p:cNvPr id="22" name="P02 · 03"/>
          <p:cNvSpPr txBox="1"/>
          <p:nvPr/>
        </p:nvSpPr>
        <p:spPr>
          <a:xfrm>
            <a:off x="6629400" y="52197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3" name="P02 · Вернуться к выбору"/>
          <p:cNvSpPr txBox="1"/>
          <p:nvPr/>
        </p:nvSpPr>
        <p:spPr>
          <a:xfrm>
            <a:off x="7239000" y="52197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Вернуться к выбору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через личную закладку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3 · Выставка на воскресенье — с понятным выбором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Выставка на воскресенье — с понятным выбором</a:t>
            </a:r>
          </a:p>
        </p:txBody>
      </p:sp>
      <p:sp>
        <p:nvSpPr>
          <p:cNvPr id="3" name="P03 · Казань · 27 сентября 2026 · 12:00–18:00 · один взрослый · до 500 ₽"/>
          <p:cNvSpPr txBox="1"/>
          <p:nvPr/>
        </p:nvSpPr>
        <p:spPr>
          <a:xfrm>
            <a:off x="609600" y="11938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Казань · 27 сентября 2026 · 12:00–18:00 · один взрослый · до 500 ₽</a:t>
            </a:r>
          </a:p>
        </p:txBody>
      </p:sp>
      <p:sp>
        <p:nvSpPr>
          <p:cNvPr id="4" name="P03 · 01"/>
          <p:cNvSpPr txBox="1"/>
          <p:nvPr/>
        </p:nvSpPr>
        <p:spPr>
          <a:xfrm>
            <a:off x="6096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03 · Условия посещения"/>
          <p:cNvSpPr txBox="1"/>
          <p:nvPr/>
        </p:nvSpPr>
        <p:spPr>
          <a:xfrm>
            <a:off x="1028700" y="1803400"/>
            <a:ext cx="27305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Условия посещения</a:t>
            </a:r>
          </a:p>
        </p:txBody>
      </p:sp>
      <p:grpSp>
        <p:nvGrpSpPr>
          <p:cNvPr id="6" name="P03 · Схема интерфейса: journey-conditions"/>
          <p:cNvGrpSpPr/>
          <p:nvPr/>
        </p:nvGrpSpPr>
        <p:grpSpPr>
          <a:xfrm>
            <a:off x="609600" y="2247900"/>
            <a:ext cx="3149600" cy="4140200"/>
            <a:chOff x="609600" y="2247900"/>
            <a:chExt cx="3149600" cy="4140200"/>
          </a:xfrm>
        </p:grpSpPr>
        <p:sp>
          <p:nvSpPr>
            <p:cNvPr id="7" name="P03 · Схема интерфейса"/>
            <p:cNvSpPr txBox="1"/>
            <p:nvPr/>
          </p:nvSpPr>
          <p:spPr>
            <a:xfrm>
              <a:off x="609600" y="2247900"/>
              <a:ext cx="3149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8" name="P03 · Блок 2"/>
            <p:cNvSpPr/>
            <p:nvPr/>
          </p:nvSpPr>
          <p:spPr>
            <a:xfrm>
              <a:off x="609600" y="2578100"/>
              <a:ext cx="3149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P03 · Казань"/>
            <p:cNvSpPr txBox="1"/>
            <p:nvPr/>
          </p:nvSpPr>
          <p:spPr>
            <a:xfrm>
              <a:off x="812800" y="2781300"/>
              <a:ext cx="2743200" cy="615333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Казань</a:t>
              </a:r>
              <a:br/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27 сентября 2026 г.</a:t>
              </a:r>
            </a:p>
          </p:txBody>
        </p:sp>
        <p:sp>
          <p:nvSpPr>
            <p:cNvPr id="10" name="P03 · 12:00–18:00"/>
            <p:cNvSpPr txBox="1"/>
            <p:nvPr/>
          </p:nvSpPr>
          <p:spPr>
            <a:xfrm>
              <a:off x="812800" y="3543300"/>
              <a:ext cx="2743200" cy="861839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12:00–18:00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 взрослый, без детей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До 500 ₽ на всех</a:t>
              </a:r>
            </a:p>
          </p:txBody>
        </p:sp>
        <p:grpSp>
          <p:nvGrpSpPr>
            <p:cNvPr id="11" name="P03 · Кнопка: Показать результаты"/>
            <p:cNvGrpSpPr/>
            <p:nvPr/>
          </p:nvGrpSpPr>
          <p:grpSpPr>
            <a:xfrm>
              <a:off x="812800" y="4597400"/>
              <a:ext cx="2743200" cy="482600"/>
              <a:chOff x="812800" y="4597400"/>
              <a:chExt cx="2743200" cy="482600"/>
            </a:xfrm>
          </p:grpSpPr>
          <p:sp>
            <p:nvSpPr>
              <p:cNvPr id="12" name="P03 · Блок 1"/>
              <p:cNvSpPr/>
              <p:nvPr/>
            </p:nvSpPr>
            <p:spPr>
              <a:xfrm>
                <a:off x="812800" y="4597400"/>
                <a:ext cx="2743200" cy="4826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P03 · Показать результаты"/>
              <p:cNvSpPr txBox="1"/>
              <p:nvPr/>
            </p:nvSpPr>
            <p:spPr>
              <a:xfrm>
                <a:off x="889000" y="4703564"/>
                <a:ext cx="2590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Показать результаты</a:t>
                </a:r>
              </a:p>
            </p:txBody>
          </p:sp>
        </p:grpSp>
        <p:grpSp>
          <p:nvGrpSpPr>
            <p:cNvPr id="14" name="P03 · Кнопка: Дата"/>
            <p:cNvGrpSpPr/>
            <p:nvPr/>
          </p:nvGrpSpPr>
          <p:grpSpPr>
            <a:xfrm>
              <a:off x="812800" y="5219700"/>
              <a:ext cx="1308100" cy="431800"/>
              <a:chOff x="812800" y="5219700"/>
              <a:chExt cx="1308100" cy="431800"/>
            </a:xfrm>
          </p:grpSpPr>
          <p:sp>
            <p:nvSpPr>
              <p:cNvPr id="15" name="P03 · Блок 1"/>
              <p:cNvSpPr/>
              <p:nvPr/>
            </p:nvSpPr>
            <p:spPr>
              <a:xfrm>
                <a:off x="812800" y="5219700"/>
                <a:ext cx="13081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P03 · Дата"/>
              <p:cNvSpPr txBox="1"/>
              <p:nvPr/>
            </p:nvSpPr>
            <p:spPr>
              <a:xfrm>
                <a:off x="889000" y="5300464"/>
                <a:ext cx="11557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Дата</a:t>
                </a:r>
              </a:p>
            </p:txBody>
          </p:sp>
        </p:grpSp>
        <p:grpSp>
          <p:nvGrpSpPr>
            <p:cNvPr id="17" name="P03 · Кнопка: Время"/>
            <p:cNvGrpSpPr/>
            <p:nvPr/>
          </p:nvGrpSpPr>
          <p:grpSpPr>
            <a:xfrm>
              <a:off x="2247900" y="5219700"/>
              <a:ext cx="1308100" cy="431800"/>
              <a:chOff x="2247900" y="5219700"/>
              <a:chExt cx="1308100" cy="431800"/>
            </a:xfrm>
          </p:grpSpPr>
          <p:sp>
            <p:nvSpPr>
              <p:cNvPr id="18" name="P03 · Блок 1"/>
              <p:cNvSpPr/>
              <p:nvPr/>
            </p:nvSpPr>
            <p:spPr>
              <a:xfrm>
                <a:off x="2247900" y="5219700"/>
                <a:ext cx="13081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P03 · Время"/>
              <p:cNvSpPr txBox="1"/>
              <p:nvPr/>
            </p:nvSpPr>
            <p:spPr>
              <a:xfrm>
                <a:off x="2324100" y="5300464"/>
                <a:ext cx="11557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Время</a:t>
                </a:r>
              </a:p>
            </p:txBody>
          </p:sp>
        </p:grpSp>
        <p:sp>
          <p:nvSpPr>
            <p:cNvPr id="20" name="P03 · Параметры можно изменить"/>
            <p:cNvSpPr txBox="1"/>
            <p:nvPr/>
          </p:nvSpPr>
          <p:spPr>
            <a:xfrm>
              <a:off x="812800" y="5854700"/>
              <a:ext cx="2743200" cy="253379"/>
            </a:xfrm>
            <a:prstGeom prst="rect">
              <a:avLst/>
            </a:prstGeom>
            <a:noFill/>
          </p:spPr>
          <p:txBody>
            <a:bodyPr wrap="none" lIns="0" rIns="0" tIns="3048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500">
                  <a:latin typeface="Segoe UI"/>
                </a:defRPr>
              </a:pPr>
              <a:r>
                <a:rPr sz="1500" b="0" i="0" u="none" lang="ru-RU" kern="120000">
                  <a:solidFill>
                    <a:srgbClr val="47616B"/>
                  </a:solidFill>
                  <a:latin typeface="Segoe UI"/>
                </a:rPr>
                <a:t>Параметры можно изменить</a:t>
              </a:r>
            </a:p>
          </p:txBody>
        </p:sp>
      </p:grpSp>
      <p:grpSp>
        <p:nvGrpSpPr>
          <p:cNvPr id="21" name="P03 · Стрелка"/>
          <p:cNvGrpSpPr/>
          <p:nvPr/>
        </p:nvGrpSpPr>
        <p:grpSpPr>
          <a:xfrm>
            <a:off x="3822700" y="4191000"/>
            <a:ext cx="228600" cy="0"/>
            <a:chOff x="3822700" y="4191000"/>
            <a:chExt cx="228600" cy="0"/>
          </a:xfrm>
        </p:grpSpPr>
        <p:cxnSp>
          <p:nvCxnSpPr>
            <p:cNvPr id="22" name="P03 · Соединитель 1"/>
            <p:cNvCxnSpPr/>
            <p:nvPr/>
          </p:nvCxnSpPr>
          <p:spPr>
            <a:xfrm>
              <a:off x="3822700" y="4191000"/>
              <a:ext cx="228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23" name="P03 · Наконечник"/>
            <p:cNvSpPr/>
            <p:nvPr/>
          </p:nvSpPr>
          <p:spPr>
            <a:xfrm>
              <a:off x="3987800" y="4156075"/>
              <a:ext cx="63500" cy="69850"/>
            </a:xfrm>
            <a:custGeom>
              <a:avLst/>
              <a:gdLst/>
              <a:ahLst/>
              <a:cxnLst/>
              <a:rect l="l" t="t" r="r" b="b"/>
              <a:pathLst>
                <a:path w="63500" h="69850">
                  <a:moveTo>
                    <a:pt x="63500" y="34925"/>
                  </a:moveTo>
                  <a:lnTo>
                    <a:pt x="0" y="0"/>
                  </a:lnTo>
                  <a:lnTo>
                    <a:pt x="0" y="6985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" name="P03 · 02"/>
          <p:cNvSpPr txBox="1"/>
          <p:nvPr/>
        </p:nvSpPr>
        <p:spPr>
          <a:xfrm>
            <a:off x="41148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25" name="P03 · Подходящие варианты"/>
          <p:cNvSpPr txBox="1"/>
          <p:nvPr/>
        </p:nvSpPr>
        <p:spPr>
          <a:xfrm>
            <a:off x="4533900" y="1803400"/>
            <a:ext cx="29845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Подходящие варианты</a:t>
            </a:r>
          </a:p>
        </p:txBody>
      </p:sp>
      <p:grpSp>
        <p:nvGrpSpPr>
          <p:cNvPr id="26" name="P03 · Схема интерфейса: journey-results"/>
          <p:cNvGrpSpPr/>
          <p:nvPr/>
        </p:nvGrpSpPr>
        <p:grpSpPr>
          <a:xfrm>
            <a:off x="4114800" y="2247900"/>
            <a:ext cx="3403600" cy="4140200"/>
            <a:chOff x="4114800" y="2247900"/>
            <a:chExt cx="3403600" cy="4140200"/>
          </a:xfrm>
        </p:grpSpPr>
        <p:sp>
          <p:nvSpPr>
            <p:cNvPr id="27" name="P03 · Схема интерфейса"/>
            <p:cNvSpPr txBox="1"/>
            <p:nvPr/>
          </p:nvSpPr>
          <p:spPr>
            <a:xfrm>
              <a:off x="4114800" y="2247900"/>
              <a:ext cx="3403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28" name="P03 · Блок 2"/>
            <p:cNvSpPr/>
            <p:nvPr/>
          </p:nvSpPr>
          <p:spPr>
            <a:xfrm>
              <a:off x="4114800" y="2578100"/>
              <a:ext cx="3403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P03 · Подходит по"/>
            <p:cNvSpPr txBox="1"/>
            <p:nvPr/>
          </p:nvSpPr>
          <p:spPr>
            <a:xfrm>
              <a:off x="4318000" y="2768600"/>
              <a:ext cx="2997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1" i="0" u="none" lang="ru-RU" kern="120000">
                  <a:solidFill>
                    <a:srgbClr val="116E75"/>
                  </a:solidFill>
                  <a:latin typeface="Segoe UI"/>
                </a:rPr>
                <a:t>Подходит по</a:t>
              </a:r>
              <a:br/>
              <a:r>
                <a:rPr sz="1800" b="1" i="0" u="none" lang="ru-RU" kern="120000">
                  <a:solidFill>
                    <a:srgbClr val="116E75"/>
                  </a:solidFill>
                  <a:latin typeface="Segoe UI"/>
                </a:rPr>
                <a:t>известным условиям</a:t>
              </a:r>
            </a:p>
          </p:txBody>
        </p:sp>
        <p:sp>
          <p:nvSpPr>
            <p:cNvPr id="30" name="P03 · 1. Гелий Коржев."/>
            <p:cNvSpPr txBox="1"/>
            <p:nvPr/>
          </p:nvSpPr>
          <p:spPr>
            <a:xfrm>
              <a:off x="4318000" y="3530600"/>
              <a:ext cx="2997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1. Гелий Коржев.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Свет и тень</a:t>
              </a:r>
            </a:p>
          </p:txBody>
        </p:sp>
        <p:sp>
          <p:nvSpPr>
            <p:cNvPr id="31" name="P03 · 2. Казанское Поволжье:"/>
            <p:cNvSpPr txBox="1"/>
            <p:nvPr/>
          </p:nvSpPr>
          <p:spPr>
            <a:xfrm>
              <a:off x="4318000" y="4254500"/>
              <a:ext cx="29972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2. Казанское Поволжье: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образы народной культуры</a:t>
              </a:r>
            </a:p>
          </p:txBody>
        </p:sp>
        <p:grpSp>
          <p:nvGrpSpPr>
            <p:cNvPr id="32" name="P03 · Кнопка: Подробнее 1"/>
            <p:cNvGrpSpPr/>
            <p:nvPr/>
          </p:nvGrpSpPr>
          <p:grpSpPr>
            <a:xfrm>
              <a:off x="4318000" y="5029200"/>
              <a:ext cx="2997200" cy="457200"/>
              <a:chOff x="4318000" y="5029200"/>
              <a:chExt cx="2997200" cy="457200"/>
            </a:xfrm>
          </p:grpSpPr>
          <p:sp>
            <p:nvSpPr>
              <p:cNvPr id="33" name="P03 · Блок 1"/>
              <p:cNvSpPr/>
              <p:nvPr/>
            </p:nvSpPr>
            <p:spPr>
              <a:xfrm>
                <a:off x="4318000" y="5029200"/>
                <a:ext cx="2997200" cy="4572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P03 · Подробнее 1"/>
              <p:cNvSpPr txBox="1"/>
              <p:nvPr/>
            </p:nvSpPr>
            <p:spPr>
              <a:xfrm>
                <a:off x="4394200" y="5122664"/>
                <a:ext cx="2844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Подробнее 1</a:t>
                </a:r>
              </a:p>
            </p:txBody>
          </p:sp>
        </p:grpSp>
        <p:grpSp>
          <p:nvGrpSpPr>
            <p:cNvPr id="35" name="P03 · Кнопка: Показать варианты для проверки"/>
            <p:cNvGrpSpPr/>
            <p:nvPr/>
          </p:nvGrpSpPr>
          <p:grpSpPr>
            <a:xfrm>
              <a:off x="4318000" y="5626100"/>
              <a:ext cx="2997200" cy="584200"/>
              <a:chOff x="4318000" y="5626100"/>
              <a:chExt cx="2997200" cy="584200"/>
            </a:xfrm>
          </p:grpSpPr>
          <p:sp>
            <p:nvSpPr>
              <p:cNvPr id="36" name="P03 · Блок 1"/>
              <p:cNvSpPr/>
              <p:nvPr/>
            </p:nvSpPr>
            <p:spPr>
              <a:xfrm>
                <a:off x="4318000" y="5626100"/>
                <a:ext cx="2997200" cy="5842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P03 · Показать варианты"/>
              <p:cNvSpPr txBox="1"/>
              <p:nvPr/>
            </p:nvSpPr>
            <p:spPr>
              <a:xfrm>
                <a:off x="4394200" y="5681972"/>
                <a:ext cx="2844800" cy="472454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Показать варианты</a:t>
                </a:r>
                <a:br/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для проверки</a:t>
                </a:r>
              </a:p>
            </p:txBody>
          </p:sp>
        </p:grpSp>
      </p:grpSp>
      <p:grpSp>
        <p:nvGrpSpPr>
          <p:cNvPr id="38" name="P03 · Стрелка"/>
          <p:cNvGrpSpPr/>
          <p:nvPr/>
        </p:nvGrpSpPr>
        <p:grpSpPr>
          <a:xfrm>
            <a:off x="7581900" y="4191000"/>
            <a:ext cx="228600" cy="0"/>
            <a:chOff x="7581900" y="4191000"/>
            <a:chExt cx="228600" cy="0"/>
          </a:xfrm>
        </p:grpSpPr>
        <p:cxnSp>
          <p:nvCxnSpPr>
            <p:cNvPr id="39" name="P03 · Соединитель 1"/>
            <p:cNvCxnSpPr/>
            <p:nvPr/>
          </p:nvCxnSpPr>
          <p:spPr>
            <a:xfrm>
              <a:off x="7581900" y="4191000"/>
              <a:ext cx="228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40" name="P03 · Наконечник"/>
            <p:cNvSpPr/>
            <p:nvPr/>
          </p:nvSpPr>
          <p:spPr>
            <a:xfrm>
              <a:off x="7747000" y="4156075"/>
              <a:ext cx="63500" cy="69850"/>
            </a:xfrm>
            <a:custGeom>
              <a:avLst/>
              <a:gdLst/>
              <a:ahLst/>
              <a:cxnLst/>
              <a:rect l="l" t="t" r="r" b="b"/>
              <a:pathLst>
                <a:path w="63500" h="69850">
                  <a:moveTo>
                    <a:pt x="63500" y="34925"/>
                  </a:moveTo>
                  <a:lnTo>
                    <a:pt x="0" y="0"/>
                  </a:lnTo>
                  <a:lnTo>
                    <a:pt x="0" y="6985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41" name="P03 · 03"/>
          <p:cNvSpPr txBox="1"/>
          <p:nvPr/>
        </p:nvSpPr>
        <p:spPr>
          <a:xfrm>
            <a:off x="78740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42" name="P03 · Выбранное событие"/>
          <p:cNvSpPr txBox="1"/>
          <p:nvPr/>
        </p:nvSpPr>
        <p:spPr>
          <a:xfrm>
            <a:off x="8293100" y="1803400"/>
            <a:ext cx="33909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Выбранное событие</a:t>
            </a:r>
          </a:p>
        </p:txBody>
      </p:sp>
      <p:grpSp>
        <p:nvGrpSpPr>
          <p:cNvPr id="43" name="P03 · Схема интерфейса: journey-event"/>
          <p:cNvGrpSpPr/>
          <p:nvPr/>
        </p:nvGrpSpPr>
        <p:grpSpPr>
          <a:xfrm>
            <a:off x="7874000" y="2247900"/>
            <a:ext cx="3810000" cy="4140200"/>
            <a:chOff x="7874000" y="2247900"/>
            <a:chExt cx="3810000" cy="4140200"/>
          </a:xfrm>
        </p:grpSpPr>
        <p:sp>
          <p:nvSpPr>
            <p:cNvPr id="44" name="P03 · Схема интерфейса"/>
            <p:cNvSpPr txBox="1"/>
            <p:nvPr/>
          </p:nvSpPr>
          <p:spPr>
            <a:xfrm>
              <a:off x="7874000" y="2247900"/>
              <a:ext cx="38100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45" name="P03 · Блок 2"/>
            <p:cNvSpPr/>
            <p:nvPr/>
          </p:nvSpPr>
          <p:spPr>
            <a:xfrm>
              <a:off x="7874000" y="2578100"/>
              <a:ext cx="38100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P03 · Гелий Коржев. Свет и тень"/>
            <p:cNvSpPr txBox="1"/>
            <p:nvPr/>
          </p:nvSpPr>
          <p:spPr>
            <a:xfrm>
              <a:off x="8077200" y="2743200"/>
              <a:ext cx="34036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Гелий Коржев. Свет и тень</a:t>
              </a:r>
            </a:p>
          </p:txBody>
        </p:sp>
        <p:sp>
          <p:nvSpPr>
            <p:cNvPr id="47" name="P03 · 400 ₽ за одного взрослого"/>
            <p:cNvSpPr txBox="1"/>
            <p:nvPr/>
          </p:nvSpPr>
          <p:spPr>
            <a:xfrm>
              <a:off x="8077200" y="3403600"/>
              <a:ext cx="34036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16E75"/>
                  </a:solidFill>
                  <a:latin typeface="Segoe UI"/>
                </a:rPr>
                <a:t>400 ₽ за одного взрослого</a:t>
              </a:r>
            </a:p>
          </p:txBody>
        </p:sp>
        <p:sp>
          <p:nvSpPr>
            <p:cNvPr id="48" name="P03 · Присутственные места, Казань"/>
            <p:cNvSpPr txBox="1"/>
            <p:nvPr/>
          </p:nvSpPr>
          <p:spPr>
            <a:xfrm>
              <a:off x="8077200" y="3822700"/>
              <a:ext cx="34036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Присутственные места, Казань</a:t>
              </a:r>
            </a:p>
          </p:txBody>
        </p:sp>
        <p:sp>
          <p:nvSpPr>
            <p:cNvPr id="49" name="P03 · Касса до 17:30; последний вход"/>
            <p:cNvSpPr txBox="1"/>
            <p:nvPr/>
          </p:nvSpPr>
          <p:spPr>
            <a:xfrm>
              <a:off x="8077200" y="4203700"/>
              <a:ext cx="3403600" cy="718199"/>
            </a:xfrm>
            <a:prstGeom prst="rect">
              <a:avLst/>
            </a:prstGeom>
            <a:noFill/>
          </p:spPr>
          <p:txBody>
            <a:bodyPr wrap="none" lIns="0" rIns="0" tIns="3048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500">
                  <a:latin typeface="Segoe UI"/>
                </a:defRPr>
              </a:pPr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Касса до 17:30; последний вход</a:t>
              </a:r>
              <a:br/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не указан. Регистрацию уточните.</a:t>
              </a:r>
              <a:br/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Наличие билетов не проверено.</a:t>
              </a:r>
            </a:p>
          </p:txBody>
        </p:sp>
        <p:grpSp>
          <p:nvGrpSpPr>
            <p:cNvPr id="50" name="P03 · Кнопка: Источник: Казанский Кремль"/>
            <p:cNvGrpSpPr/>
            <p:nvPr/>
          </p:nvGrpSpPr>
          <p:grpSpPr>
            <a:xfrm>
              <a:off x="8077200" y="5105400"/>
              <a:ext cx="3403600" cy="393700"/>
              <a:chOff x="8077200" y="5105400"/>
              <a:chExt cx="3403600" cy="393700"/>
            </a:xfrm>
          </p:grpSpPr>
          <p:sp>
            <p:nvSpPr>
              <p:cNvPr id="51" name="P03 · Блок 1"/>
              <p:cNvSpPr/>
              <p:nvPr/>
            </p:nvSpPr>
            <p:spPr>
              <a:xfrm>
                <a:off x="8077200" y="5105400"/>
                <a:ext cx="3403600" cy="3937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P03 · Источник: Казанский Кремль"/>
              <p:cNvSpPr txBox="1"/>
              <p:nvPr/>
            </p:nvSpPr>
            <p:spPr>
              <a:xfrm>
                <a:off x="8153400" y="5175560"/>
                <a:ext cx="3251200" cy="253379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Источник: Казанский Кремль</a:t>
                </a:r>
              </a:p>
            </p:txBody>
          </p:sp>
        </p:grpSp>
        <p:grpSp>
          <p:nvGrpSpPr>
            <p:cNvPr id="53" name="P03 · Кнопка: Сохранено"/>
            <p:cNvGrpSpPr/>
            <p:nvPr/>
          </p:nvGrpSpPr>
          <p:grpSpPr>
            <a:xfrm>
              <a:off x="8077200" y="5600700"/>
              <a:ext cx="1676400" cy="431800"/>
              <a:chOff x="8077200" y="5600700"/>
              <a:chExt cx="1676400" cy="431800"/>
            </a:xfrm>
          </p:grpSpPr>
          <p:sp>
            <p:nvSpPr>
              <p:cNvPr id="54" name="P03 · Блок 1"/>
              <p:cNvSpPr/>
              <p:nvPr/>
            </p:nvSpPr>
            <p:spPr>
              <a:xfrm>
                <a:off x="8077200" y="5600700"/>
                <a:ext cx="1676400" cy="4318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P03 · Сохранено"/>
              <p:cNvSpPr txBox="1"/>
              <p:nvPr/>
            </p:nvSpPr>
            <p:spPr>
              <a:xfrm>
                <a:off x="8153400" y="5681464"/>
                <a:ext cx="15240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Сохранено</a:t>
                </a:r>
              </a:p>
            </p:txBody>
          </p:sp>
        </p:grpSp>
        <p:grpSp>
          <p:nvGrpSpPr>
            <p:cNvPr id="56" name="P03 · Кнопка: К результатам"/>
            <p:cNvGrpSpPr/>
            <p:nvPr/>
          </p:nvGrpSpPr>
          <p:grpSpPr>
            <a:xfrm>
              <a:off x="9880600" y="5600700"/>
              <a:ext cx="1600200" cy="431800"/>
              <a:chOff x="9880600" y="5600700"/>
              <a:chExt cx="1600200" cy="431800"/>
            </a:xfrm>
          </p:grpSpPr>
          <p:sp>
            <p:nvSpPr>
              <p:cNvPr id="57" name="P03 · Блок 1"/>
              <p:cNvSpPr/>
              <p:nvPr/>
            </p:nvSpPr>
            <p:spPr>
              <a:xfrm>
                <a:off x="9880600" y="5600700"/>
                <a:ext cx="16002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P03 · К результатам"/>
              <p:cNvSpPr txBox="1"/>
              <p:nvPr/>
            </p:nvSpPr>
            <p:spPr>
              <a:xfrm>
                <a:off x="9956800" y="5689910"/>
                <a:ext cx="1447800" cy="253379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К результатам</a:t>
                </a:r>
              </a:p>
            </p:txBody>
          </p:sp>
        </p:grpSp>
      </p:grpSp>
      <p:sp>
        <p:nvSpPr>
          <p:cNvPr id="59" name="P03 · Сокращённые схемы на данных сбора 26.09.2026; сохранение не покупает б"/>
          <p:cNvSpPr txBox="1"/>
          <p:nvPr/>
        </p:nvSpPr>
        <p:spPr>
          <a:xfrm>
            <a:off x="609600" y="6477000"/>
            <a:ext cx="109728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0" i="0" u="none" lang="ru-RU" kern="120000">
                <a:solidFill>
                  <a:srgbClr val="47616B"/>
                </a:solidFill>
                <a:latin typeface="Segoe UI"/>
              </a:rPr>
              <a:t>Сокращённые схемы на данных сбора 26.09.2026; сохранение не покупает билет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4 · Состав посетителей меняет результат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Состав посетителей меняет результат</a:t>
            </a:r>
          </a:p>
        </p:txBody>
      </p:sp>
      <p:sp>
        <p:nvSpPr>
          <p:cNvPr id="3" name="P04 · 01"/>
          <p:cNvSpPr txBox="1"/>
          <p:nvPr/>
        </p:nvSpPr>
        <p:spPr>
          <a:xfrm>
            <a:off x="609600" y="16510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4" name="P04 · Город и дата"/>
          <p:cNvSpPr txBox="1"/>
          <p:nvPr/>
        </p:nvSpPr>
        <p:spPr>
          <a:xfrm>
            <a:off x="1219200" y="16256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Город и дата</a:t>
            </a:r>
          </a:p>
        </p:txBody>
      </p:sp>
      <p:sp>
        <p:nvSpPr>
          <p:cNvPr id="5" name="P04 · Где и в какой день пойдём"/>
          <p:cNvSpPr txBox="1"/>
          <p:nvPr/>
        </p:nvSpPr>
        <p:spPr>
          <a:xfrm>
            <a:off x="1219200" y="20574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Где и в какой день пойдём</a:t>
            </a:r>
          </a:p>
        </p:txBody>
      </p:sp>
      <p:sp>
        <p:nvSpPr>
          <p:cNvPr id="6" name="P04 · 02"/>
          <p:cNvSpPr txBox="1"/>
          <p:nvPr/>
        </p:nvSpPr>
        <p:spPr>
          <a:xfrm>
            <a:off x="609600" y="26543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7" name="P04 · Доступное время"/>
          <p:cNvSpPr txBox="1"/>
          <p:nvPr/>
        </p:nvSpPr>
        <p:spPr>
          <a:xfrm>
            <a:off x="1219200" y="26289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Доступное время</a:t>
            </a:r>
          </a:p>
        </p:txBody>
      </p:sp>
      <p:sp>
        <p:nvSpPr>
          <p:cNvPr id="8" name="P04 · Сеанс или часы посещения"/>
          <p:cNvSpPr txBox="1"/>
          <p:nvPr/>
        </p:nvSpPr>
        <p:spPr>
          <a:xfrm>
            <a:off x="1219200" y="30607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Сеанс или часы посещения</a:t>
            </a:r>
          </a:p>
        </p:txBody>
      </p:sp>
      <p:sp>
        <p:nvSpPr>
          <p:cNvPr id="9" name="P04 · 03"/>
          <p:cNvSpPr txBox="1"/>
          <p:nvPr/>
        </p:nvSpPr>
        <p:spPr>
          <a:xfrm>
            <a:off x="609600" y="36576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0" name="P04 · Бюджет на всех"/>
          <p:cNvSpPr txBox="1"/>
          <p:nvPr/>
        </p:nvSpPr>
        <p:spPr>
          <a:xfrm>
            <a:off x="1219200" y="36322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Бюджет на всех</a:t>
            </a:r>
          </a:p>
        </p:txBody>
      </p:sp>
      <p:sp>
        <p:nvSpPr>
          <p:cNvPr id="11" name="P04 · Только вход, без дороги и услуг"/>
          <p:cNvSpPr txBox="1"/>
          <p:nvPr/>
        </p:nvSpPr>
        <p:spPr>
          <a:xfrm>
            <a:off x="1219200" y="40640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Только вход, без дороги и услуг</a:t>
            </a:r>
          </a:p>
        </p:txBody>
      </p:sp>
      <p:sp>
        <p:nvSpPr>
          <p:cNvPr id="12" name="P04 · 04"/>
          <p:cNvSpPr txBox="1"/>
          <p:nvPr/>
        </p:nvSpPr>
        <p:spPr>
          <a:xfrm>
            <a:off x="609600" y="46609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3" name="P04 · Взрослые и дети"/>
          <p:cNvSpPr txBox="1"/>
          <p:nvPr/>
        </p:nvSpPr>
        <p:spPr>
          <a:xfrm>
            <a:off x="1219200" y="46355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Взрослые и дети</a:t>
            </a:r>
          </a:p>
        </p:txBody>
      </p:sp>
      <p:sp>
        <p:nvSpPr>
          <p:cNvPr id="14" name="P04 · Возраст, тарифы и условия допуска"/>
          <p:cNvSpPr txBox="1"/>
          <p:nvPr/>
        </p:nvSpPr>
        <p:spPr>
          <a:xfrm>
            <a:off x="1219200" y="50673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Возраст, тарифы и условия допуска</a:t>
            </a:r>
          </a:p>
        </p:txBody>
      </p:sp>
      <p:grpSp>
        <p:nvGrpSpPr>
          <p:cNvPr id="28" name="P04 · Блок схемы"/>
          <p:cNvGrpSpPr/>
          <p:nvPr/>
        </p:nvGrpSpPr>
        <p:grpSpPr>
          <a:xfrm>
            <a:off x="6553200" y="1587500"/>
            <a:ext cx="5029200" cy="1638300"/>
            <a:chOff x="6553200" y="1587500"/>
            <a:chExt cx="5029200" cy="1638300"/>
          </a:xfrm>
        </p:grpSpPr>
        <p:sp>
          <p:nvSpPr>
            <p:cNvPr id="15" name="P04 · Блок 14"/>
            <p:cNvSpPr/>
            <p:nvPr/>
          </p:nvSpPr>
          <p:spPr>
            <a:xfrm>
              <a:off x="6553200" y="1587500"/>
              <a:ext cx="5029200" cy="16383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P04 · Подходит по известным условиям"/>
            <p:cNvSpPr txBox="1"/>
            <p:nvPr/>
          </p:nvSpPr>
          <p:spPr>
            <a:xfrm>
              <a:off x="6807200" y="1752600"/>
              <a:ext cx="4521200" cy="680105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16E75"/>
                  </a:solidFill>
                  <a:latin typeface="Segoe UI"/>
                </a:rPr>
                <a:t>Подходит по известным</a:t>
              </a:r>
              <a:br/>
              <a:r>
                <a:rPr sz="2100" b="1" i="0" u="none" lang="ru-RU" kern="120000">
                  <a:solidFill>
                    <a:srgbClr val="116E75"/>
                  </a:solidFill>
                  <a:latin typeface="Segoe UI"/>
                </a:rPr>
                <a:t>условиям</a:t>
              </a:r>
            </a:p>
          </p:txBody>
        </p:sp>
        <p:sp>
          <p:nvSpPr>
            <p:cNvPr id="17" name="P04 · Известные время, цена и условия соответствуют запросу"/>
            <p:cNvSpPr txBox="1"/>
            <p:nvPr/>
          </p:nvSpPr>
          <p:spPr>
            <a:xfrm>
              <a:off x="6807200" y="2514600"/>
              <a:ext cx="4521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Известные время, цена и условия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соответствуют запросу</a:t>
              </a:r>
            </a:p>
          </p:txBody>
        </p:sp>
      </p:grpSp>
      <p:grpSp>
        <p:nvGrpSpPr>
          <p:cNvPr id="18" name="P04 · Схема интерфейса: selection-uncertain"/>
          <p:cNvGrpSpPr/>
          <p:nvPr/>
        </p:nvGrpSpPr>
        <p:grpSpPr>
          <a:xfrm>
            <a:off x="6553200" y="3429000"/>
            <a:ext cx="5029200" cy="2590800"/>
            <a:chOff x="6553200" y="3429000"/>
            <a:chExt cx="5029200" cy="2590800"/>
          </a:xfrm>
        </p:grpSpPr>
        <p:sp>
          <p:nvSpPr>
            <p:cNvPr id="19" name="P04 · Схема интерфейса · семейный запрос"/>
            <p:cNvSpPr txBox="1"/>
            <p:nvPr/>
          </p:nvSpPr>
          <p:spPr>
            <a:xfrm>
              <a:off x="6553200" y="3429000"/>
              <a:ext cx="50292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 · семейный запрос</a:t>
              </a:r>
            </a:p>
          </p:txBody>
        </p:sp>
        <p:sp>
          <p:nvSpPr>
            <p:cNvPr id="20" name="P04 · Блок 2"/>
            <p:cNvSpPr/>
            <p:nvPr/>
          </p:nvSpPr>
          <p:spPr>
            <a:xfrm>
              <a:off x="6553200" y="3759200"/>
              <a:ext cx="5029200" cy="2260600"/>
            </a:xfrm>
            <a:prstGeom prst="rect">
              <a:avLst/>
            </a:prstGeom>
            <a:solidFill>
              <a:srgbClr val="F8E5D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P04 · Нужно уточнить условия"/>
            <p:cNvSpPr txBox="1"/>
            <p:nvPr/>
          </p:nvSpPr>
          <p:spPr>
            <a:xfrm>
              <a:off x="6807200" y="3924300"/>
              <a:ext cx="45212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42F3D"/>
                  </a:solidFill>
                  <a:latin typeface="Segoe UI"/>
                </a:rPr>
                <a:t>Нужно уточнить условия</a:t>
              </a:r>
            </a:p>
          </p:txBody>
        </p:sp>
        <p:sp>
          <p:nvSpPr>
            <p:cNvPr id="22" name="P04 · 2 взрослых и ребёнок 7 лет · до 1500 ₽"/>
            <p:cNvSpPr txBox="1"/>
            <p:nvPr/>
          </p:nvSpPr>
          <p:spPr>
            <a:xfrm>
              <a:off x="6807200" y="4406900"/>
              <a:ext cx="4521200" cy="813959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2 взрослых и ребёнок 7 лет · до 1500 ₽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Неизвестный детский тариф не даёт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итоговую цену на семью.</a:t>
              </a:r>
            </a:p>
          </p:txBody>
        </p:sp>
        <p:grpSp>
          <p:nvGrpSpPr>
            <p:cNvPr id="23" name="P04 · Кнопка: Показать варианты для проверки"/>
            <p:cNvGrpSpPr/>
            <p:nvPr/>
          </p:nvGrpSpPr>
          <p:grpSpPr>
            <a:xfrm>
              <a:off x="6807200" y="5384800"/>
              <a:ext cx="4521200" cy="431800"/>
              <a:chOff x="6807200" y="5384800"/>
              <a:chExt cx="4521200" cy="431800"/>
            </a:xfrm>
          </p:grpSpPr>
          <p:sp>
            <p:nvSpPr>
              <p:cNvPr id="24" name="P04 · Блок 1"/>
              <p:cNvSpPr/>
              <p:nvPr/>
            </p:nvSpPr>
            <p:spPr>
              <a:xfrm>
                <a:off x="6807200" y="5384800"/>
                <a:ext cx="45212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P04 · Показать варианты для проверки"/>
              <p:cNvSpPr txBox="1"/>
              <p:nvPr/>
            </p:nvSpPr>
            <p:spPr>
              <a:xfrm>
                <a:off x="6883400" y="5465564"/>
                <a:ext cx="4368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Показать варианты для проверки</a:t>
                </a:r>
              </a:p>
            </p:txBody>
          </p:sp>
        </p:grpSp>
      </p:grpSp>
      <p:cxnSp>
        <p:nvCxnSpPr>
          <p:cNvPr id="26" name="P04 · Соединитель 18"/>
          <p:cNvCxnSpPr/>
          <p:nvPr/>
        </p:nvCxnSpPr>
        <p:spPr>
          <a:xfrm>
            <a:off x="609600" y="6223000"/>
            <a:ext cx="109728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27" name="P04 · Часы работы, время сеанса, закрытие кассы и последний вход — разные фа"/>
          <p:cNvSpPr txBox="1"/>
          <p:nvPr/>
        </p:nvSpPr>
        <p:spPr>
          <a:xfrm>
            <a:off x="609600" y="6362700"/>
            <a:ext cx="109728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Часы работы, время сеанса, закрытие кассы и последний вход — разные факты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5 · Из публикаций учреждений — в полезную карточку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Из публикаций учреждений — в полезную карточку</a:t>
            </a:r>
          </a:p>
        </p:txBody>
      </p:sp>
      <p:grpSp>
        <p:nvGrpSpPr>
          <p:cNvPr id="3" name="P05 · Пиктограмма: page"/>
          <p:cNvGrpSpPr/>
          <p:nvPr/>
        </p:nvGrpSpPr>
        <p:grpSpPr>
          <a:xfrm>
            <a:off x="609600" y="1714500"/>
            <a:ext cx="558800" cy="635000"/>
            <a:chOff x="609600" y="1714500"/>
            <a:chExt cx="558800" cy="635000"/>
          </a:xfrm>
        </p:grpSpPr>
        <p:sp>
          <p:nvSpPr>
            <p:cNvPr id="4" name="P05 · Блок 1"/>
            <p:cNvSpPr/>
            <p:nvPr/>
          </p:nvSpPr>
          <p:spPr>
            <a:xfrm>
              <a:off x="6096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P05 · Соединитель 2"/>
            <p:cNvCxnSpPr/>
            <p:nvPr/>
          </p:nvCxnSpPr>
          <p:spPr>
            <a:xfrm>
              <a:off x="723900" y="1866900"/>
              <a:ext cx="3175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6" name="P05 · Соединитель 3"/>
            <p:cNvCxnSpPr/>
            <p:nvPr/>
          </p:nvCxnSpPr>
          <p:spPr>
            <a:xfrm>
              <a:off x="723900" y="1993900"/>
              <a:ext cx="3175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7" name="P05 · Соединитель 4"/>
            <p:cNvCxnSpPr/>
            <p:nvPr/>
          </p:nvCxnSpPr>
          <p:spPr>
            <a:xfrm>
              <a:off x="723900" y="2120900"/>
              <a:ext cx="2159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8" name="P05 · 01"/>
          <p:cNvSpPr txBox="1"/>
          <p:nvPr/>
        </p:nvSpPr>
        <p:spPr>
          <a:xfrm>
            <a:off x="13462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grpSp>
        <p:nvGrpSpPr>
          <p:cNvPr id="9" name="P05 · Стрелка"/>
          <p:cNvGrpSpPr/>
          <p:nvPr/>
        </p:nvGrpSpPr>
        <p:grpSpPr>
          <a:xfrm>
            <a:off x="2082800" y="2044700"/>
            <a:ext cx="1155700" cy="0"/>
            <a:chOff x="2082800" y="2044700"/>
            <a:chExt cx="1155700" cy="0"/>
          </a:xfrm>
        </p:grpSpPr>
        <p:cxnSp>
          <p:nvCxnSpPr>
            <p:cNvPr id="10" name="P05 · Соединитель 1"/>
            <p:cNvCxnSpPr/>
            <p:nvPr/>
          </p:nvCxnSpPr>
          <p:spPr>
            <a:xfrm>
              <a:off x="20828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11" name="P05 · Наконечник"/>
            <p:cNvSpPr/>
            <p:nvPr/>
          </p:nvSpPr>
          <p:spPr>
            <a:xfrm>
              <a:off x="31496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" name="P05 · Публикации"/>
          <p:cNvSpPr txBox="1"/>
          <p:nvPr/>
        </p:nvSpPr>
        <p:spPr>
          <a:xfrm>
            <a:off x="6096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Публикации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учреждений</a:t>
            </a:r>
          </a:p>
        </p:txBody>
      </p:sp>
      <p:sp>
        <p:nvSpPr>
          <p:cNvPr id="13" name="P05 · Исходная афиша"/>
          <p:cNvSpPr txBox="1"/>
          <p:nvPr/>
        </p:nvSpPr>
        <p:spPr>
          <a:xfrm>
            <a:off x="6096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Исходная афиша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условия посещения</a:t>
            </a:r>
          </a:p>
        </p:txBody>
      </p:sp>
      <p:grpSp>
        <p:nvGrpSpPr>
          <p:cNvPr id="14" name="P05 · Пиктограмма: extract"/>
          <p:cNvGrpSpPr/>
          <p:nvPr/>
        </p:nvGrpSpPr>
        <p:grpSpPr>
          <a:xfrm>
            <a:off x="3467100" y="1714500"/>
            <a:ext cx="558800" cy="635000"/>
            <a:chOff x="3467100" y="1714500"/>
            <a:chExt cx="558800" cy="635000"/>
          </a:xfrm>
        </p:grpSpPr>
        <p:sp>
          <p:nvSpPr>
            <p:cNvPr id="15" name="P05 · Блок 1"/>
            <p:cNvSpPr/>
            <p:nvPr/>
          </p:nvSpPr>
          <p:spPr>
            <a:xfrm>
              <a:off x="34671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P05 · Блок 2"/>
            <p:cNvSpPr/>
            <p:nvPr/>
          </p:nvSpPr>
          <p:spPr>
            <a:xfrm>
              <a:off x="3568700" y="18415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P05 · Соединитель 3"/>
            <p:cNvCxnSpPr/>
            <p:nvPr/>
          </p:nvCxnSpPr>
          <p:spPr>
            <a:xfrm>
              <a:off x="3708400" y="18669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18" name="P05 · Блок 4"/>
            <p:cNvSpPr/>
            <p:nvPr/>
          </p:nvSpPr>
          <p:spPr>
            <a:xfrm>
              <a:off x="3568700" y="19812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P05 · Соединитель 5"/>
            <p:cNvCxnSpPr/>
            <p:nvPr/>
          </p:nvCxnSpPr>
          <p:spPr>
            <a:xfrm>
              <a:off x="3708400" y="20066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20" name="P05 · Блок 6"/>
            <p:cNvSpPr/>
            <p:nvPr/>
          </p:nvSpPr>
          <p:spPr>
            <a:xfrm>
              <a:off x="3568700" y="21209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P05 · Соединитель 7"/>
            <p:cNvCxnSpPr/>
            <p:nvPr/>
          </p:nvCxnSpPr>
          <p:spPr>
            <a:xfrm>
              <a:off x="3708400" y="21463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22" name="P05 · 02"/>
          <p:cNvSpPr txBox="1"/>
          <p:nvPr/>
        </p:nvSpPr>
        <p:spPr>
          <a:xfrm>
            <a:off x="42037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grpSp>
        <p:nvGrpSpPr>
          <p:cNvPr id="23" name="P05 · Стрелка"/>
          <p:cNvGrpSpPr/>
          <p:nvPr/>
        </p:nvGrpSpPr>
        <p:grpSpPr>
          <a:xfrm>
            <a:off x="4940300" y="2044700"/>
            <a:ext cx="1155700" cy="0"/>
            <a:chOff x="4940300" y="2044700"/>
            <a:chExt cx="1155700" cy="0"/>
          </a:xfrm>
        </p:grpSpPr>
        <p:cxnSp>
          <p:nvCxnSpPr>
            <p:cNvPr id="24" name="P05 · Соединитель 1"/>
            <p:cNvCxnSpPr/>
            <p:nvPr/>
          </p:nvCxnSpPr>
          <p:spPr>
            <a:xfrm>
              <a:off x="49403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25" name="P05 · Наконечник"/>
            <p:cNvSpPr/>
            <p:nvPr/>
          </p:nvSpPr>
          <p:spPr>
            <a:xfrm>
              <a:off x="60071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6" name="P05 · Извлечение"/>
          <p:cNvSpPr txBox="1"/>
          <p:nvPr/>
        </p:nvSpPr>
        <p:spPr>
          <a:xfrm>
            <a:off x="34671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Извлечение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фактов</a:t>
            </a:r>
          </a:p>
        </p:txBody>
      </p:sp>
      <p:sp>
        <p:nvSpPr>
          <p:cNvPr id="27" name="P05 · Название, дата,"/>
          <p:cNvSpPr txBox="1"/>
          <p:nvPr/>
        </p:nvSpPr>
        <p:spPr>
          <a:xfrm>
            <a:off x="34671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Название, дата,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место и тариф</a:t>
            </a:r>
          </a:p>
        </p:txBody>
      </p:sp>
      <p:grpSp>
        <p:nvGrpSpPr>
          <p:cNvPr id="28" name="P05 · Пиктограмма: check"/>
          <p:cNvGrpSpPr/>
          <p:nvPr/>
        </p:nvGrpSpPr>
        <p:grpSpPr>
          <a:xfrm>
            <a:off x="6324600" y="1714500"/>
            <a:ext cx="558800" cy="635000"/>
            <a:chOff x="6324600" y="1714500"/>
            <a:chExt cx="558800" cy="635000"/>
          </a:xfrm>
        </p:grpSpPr>
        <p:sp>
          <p:nvSpPr>
            <p:cNvPr id="29" name="P05 · Блок 1"/>
            <p:cNvSpPr/>
            <p:nvPr/>
          </p:nvSpPr>
          <p:spPr>
            <a:xfrm>
              <a:off x="63246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P05 · Соединитель 2"/>
            <p:cNvCxnSpPr/>
            <p:nvPr/>
          </p:nvCxnSpPr>
          <p:spPr>
            <a:xfrm>
              <a:off x="6426200" y="2044700"/>
              <a:ext cx="139700" cy="127000"/>
            </a:xfrm>
            <a:prstGeom prst="line">
              <a:avLst/>
            </a:prstGeom>
            <a:ln w="38100">
              <a:solidFill>
                <a:srgbClr val="F1C760"/>
              </a:solidFill>
            </a:ln>
            <a:effectLst/>
          </p:spPr>
        </p:cxnSp>
        <p:cxnSp>
          <p:nvCxnSpPr>
            <p:cNvPr id="31" name="P05 · Соединитель 3"/>
            <p:cNvCxnSpPr/>
            <p:nvPr/>
          </p:nvCxnSpPr>
          <p:spPr>
            <a:xfrm flipV="1">
              <a:off x="6565900" y="1879600"/>
              <a:ext cx="228600" cy="292100"/>
            </a:xfrm>
            <a:prstGeom prst="line">
              <a:avLst/>
            </a:prstGeom>
            <a:ln w="38100">
              <a:solidFill>
                <a:srgbClr val="F1C760"/>
              </a:solidFill>
            </a:ln>
            <a:effectLst/>
          </p:spPr>
        </p:cxnSp>
      </p:grpSp>
      <p:sp>
        <p:nvSpPr>
          <p:cNvPr id="32" name="P05 · 03"/>
          <p:cNvSpPr txBox="1"/>
          <p:nvPr/>
        </p:nvSpPr>
        <p:spPr>
          <a:xfrm>
            <a:off x="70612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grpSp>
        <p:nvGrpSpPr>
          <p:cNvPr id="33" name="P05 · Стрелка"/>
          <p:cNvGrpSpPr/>
          <p:nvPr/>
        </p:nvGrpSpPr>
        <p:grpSpPr>
          <a:xfrm>
            <a:off x="7797800" y="2044700"/>
            <a:ext cx="1155700" cy="0"/>
            <a:chOff x="7797800" y="2044700"/>
            <a:chExt cx="1155700" cy="0"/>
          </a:xfrm>
        </p:grpSpPr>
        <p:cxnSp>
          <p:nvCxnSpPr>
            <p:cNvPr id="34" name="P05 · Соединитель 1"/>
            <p:cNvCxnSpPr/>
            <p:nvPr/>
          </p:nvCxnSpPr>
          <p:spPr>
            <a:xfrm>
              <a:off x="77978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35" name="P05 · Наконечник"/>
            <p:cNvSpPr/>
            <p:nvPr/>
          </p:nvSpPr>
          <p:spPr>
            <a:xfrm>
              <a:off x="88646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6" name="P05 · Проверка"/>
          <p:cNvSpPr txBox="1"/>
          <p:nvPr/>
        </p:nvSpPr>
        <p:spPr>
          <a:xfrm>
            <a:off x="63246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Проверка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и объединение</a:t>
            </a:r>
          </a:p>
        </p:txBody>
      </p:sp>
      <p:sp>
        <p:nvSpPr>
          <p:cNvPr id="37" name="P05 · Единые форматы,"/>
          <p:cNvSpPr txBox="1"/>
          <p:nvPr/>
        </p:nvSpPr>
        <p:spPr>
          <a:xfrm>
            <a:off x="63246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Единые форматы,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проверка дублей</a:t>
            </a:r>
          </a:p>
        </p:txBody>
      </p:sp>
      <p:grpSp>
        <p:nvGrpSpPr>
          <p:cNvPr id="38" name="P05 · Пиктограмма: card"/>
          <p:cNvGrpSpPr/>
          <p:nvPr/>
        </p:nvGrpSpPr>
        <p:grpSpPr>
          <a:xfrm>
            <a:off x="9182100" y="1714500"/>
            <a:ext cx="558800" cy="635000"/>
            <a:chOff x="9182100" y="1714500"/>
            <a:chExt cx="558800" cy="635000"/>
          </a:xfrm>
        </p:grpSpPr>
        <p:sp>
          <p:nvSpPr>
            <p:cNvPr id="39" name="P05 · Блок 1"/>
            <p:cNvSpPr/>
            <p:nvPr/>
          </p:nvSpPr>
          <p:spPr>
            <a:xfrm>
              <a:off x="91821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P05 · Блок 2"/>
            <p:cNvSpPr/>
            <p:nvPr/>
          </p:nvSpPr>
          <p:spPr>
            <a:xfrm>
              <a:off x="9271000" y="1816100"/>
              <a:ext cx="381000" cy="1524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P05 · Соединитель 3"/>
            <p:cNvCxnSpPr/>
            <p:nvPr/>
          </p:nvCxnSpPr>
          <p:spPr>
            <a:xfrm>
              <a:off x="9271000" y="2082800"/>
              <a:ext cx="3429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42" name="P05 · Соединитель 4"/>
            <p:cNvCxnSpPr/>
            <p:nvPr/>
          </p:nvCxnSpPr>
          <p:spPr>
            <a:xfrm>
              <a:off x="9271000" y="2197100"/>
              <a:ext cx="2286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43" name="P05 · 04"/>
          <p:cNvSpPr txBox="1"/>
          <p:nvPr/>
        </p:nvSpPr>
        <p:spPr>
          <a:xfrm>
            <a:off x="99187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04</a:t>
            </a:r>
          </a:p>
        </p:txBody>
      </p:sp>
      <p:sp>
        <p:nvSpPr>
          <p:cNvPr id="44" name="P05 · Карточка"/>
          <p:cNvSpPr txBox="1"/>
          <p:nvPr/>
        </p:nvSpPr>
        <p:spPr>
          <a:xfrm>
            <a:off x="91821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Карточка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со ссылкой</a:t>
            </a:r>
          </a:p>
        </p:txBody>
      </p:sp>
      <p:sp>
        <p:nvSpPr>
          <p:cNvPr id="45" name="P05 · Условия выбора"/>
          <p:cNvSpPr txBox="1"/>
          <p:nvPr/>
        </p:nvSpPr>
        <p:spPr>
          <a:xfrm>
            <a:off x="91821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Условия выбора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исходная страница</a:t>
            </a:r>
          </a:p>
        </p:txBody>
      </p:sp>
      <p:sp>
        <p:nvSpPr>
          <p:cNvPr id="46" name="P05 · Сбор запускает оператор; обновления по расписанию пока нет"/>
          <p:cNvSpPr txBox="1"/>
          <p:nvPr/>
        </p:nvSpPr>
        <p:spPr>
          <a:xfrm>
            <a:off x="609600" y="4381500"/>
            <a:ext cx="10972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Сбор запускает оператор; обновления по расписанию пока нет</a:t>
            </a:r>
          </a:p>
        </p:txBody>
      </p:sp>
      <p:grpSp>
        <p:nvGrpSpPr>
          <p:cNvPr id="57" name="P05 · Блок схемы"/>
          <p:cNvGrpSpPr/>
          <p:nvPr/>
        </p:nvGrpSpPr>
        <p:grpSpPr>
          <a:xfrm>
            <a:off x="609600" y="5041900"/>
            <a:ext cx="10972800" cy="1066800"/>
            <a:chOff x="609600" y="5041900"/>
            <a:chExt cx="10972800" cy="1066800"/>
          </a:xfrm>
        </p:grpSpPr>
        <p:sp>
          <p:nvSpPr>
            <p:cNvPr id="47" name="P05 · Блок 22"/>
            <p:cNvSpPr/>
            <p:nvPr/>
          </p:nvSpPr>
          <p:spPr>
            <a:xfrm>
              <a:off x="609600" y="5041900"/>
              <a:ext cx="10972800" cy="10668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P05 · 62"/>
            <p:cNvSpPr txBox="1"/>
            <p:nvPr/>
          </p:nvSpPr>
          <p:spPr>
            <a:xfrm>
              <a:off x="838200" y="5092700"/>
              <a:ext cx="762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62</a:t>
              </a:r>
            </a:p>
          </p:txBody>
        </p:sp>
        <p:sp>
          <p:nvSpPr>
            <p:cNvPr id="49" name="P05 · события"/>
            <p:cNvSpPr txBox="1"/>
            <p:nvPr/>
          </p:nvSpPr>
          <p:spPr>
            <a:xfrm>
              <a:off x="1739900" y="5283200"/>
              <a:ext cx="1600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события</a:t>
              </a:r>
            </a:p>
          </p:txBody>
        </p:sp>
        <p:sp>
          <p:nvSpPr>
            <p:cNvPr id="50" name="P05 · 93"/>
            <p:cNvSpPr txBox="1"/>
            <p:nvPr/>
          </p:nvSpPr>
          <p:spPr>
            <a:xfrm>
              <a:off x="3581400" y="5092700"/>
              <a:ext cx="762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93</a:t>
              </a:r>
            </a:p>
          </p:txBody>
        </p:sp>
        <p:sp>
          <p:nvSpPr>
            <p:cNvPr id="51" name="P05 · варианта посещения"/>
            <p:cNvSpPr txBox="1"/>
            <p:nvPr/>
          </p:nvSpPr>
          <p:spPr>
            <a:xfrm>
              <a:off x="4483100" y="5283200"/>
              <a:ext cx="1600200" cy="518175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варианта</a:t>
              </a:r>
              <a:br/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посещения</a:t>
              </a:r>
            </a:p>
          </p:txBody>
        </p:sp>
        <p:sp>
          <p:nvSpPr>
            <p:cNvPr id="52" name="P05 · 5"/>
            <p:cNvSpPr txBox="1"/>
            <p:nvPr/>
          </p:nvSpPr>
          <p:spPr>
            <a:xfrm>
              <a:off x="6324600" y="5092700"/>
              <a:ext cx="762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5</a:t>
              </a:r>
            </a:p>
          </p:txBody>
        </p:sp>
        <p:sp>
          <p:nvSpPr>
            <p:cNvPr id="53" name="P05 · источников"/>
            <p:cNvSpPr txBox="1"/>
            <p:nvPr/>
          </p:nvSpPr>
          <p:spPr>
            <a:xfrm>
              <a:off x="7226300" y="5283200"/>
              <a:ext cx="1600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источников</a:t>
              </a:r>
            </a:p>
          </p:txBody>
        </p:sp>
        <p:sp>
          <p:nvSpPr>
            <p:cNvPr id="54" name="P05 · 2"/>
            <p:cNvSpPr txBox="1"/>
            <p:nvPr/>
          </p:nvSpPr>
          <p:spPr>
            <a:xfrm>
              <a:off x="9067800" y="5092700"/>
              <a:ext cx="762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2</a:t>
              </a:r>
            </a:p>
          </p:txBody>
        </p:sp>
        <p:sp>
          <p:nvSpPr>
            <p:cNvPr id="55" name="P05 · города"/>
            <p:cNvSpPr txBox="1"/>
            <p:nvPr/>
          </p:nvSpPr>
          <p:spPr>
            <a:xfrm>
              <a:off x="9969500" y="5283200"/>
              <a:ext cx="1600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города</a:t>
              </a:r>
            </a:p>
          </p:txBody>
        </p:sp>
      </p:grpSp>
      <p:sp>
        <p:nvSpPr>
          <p:cNvPr id="56" name="P05 · Сбор 26.09.2026 · окно 26.09–25.10.2026 · Казань и Екатеринбург"/>
          <p:cNvSpPr txBox="1"/>
          <p:nvPr/>
        </p:nvSpPr>
        <p:spPr>
          <a:xfrm>
            <a:off x="609600" y="6337300"/>
            <a:ext cx="109728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C4DCDA"/>
                </a:solidFill>
                <a:latin typeface="Segoe UI"/>
              </a:rPr>
              <a:t>Сбор 26.09.2026 · окно 26.09–25.10.2026 · Казань и Екатеринбург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6 · Открытый вход, личный выбор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Открытый вход, личный выбор</a:t>
            </a:r>
          </a:p>
        </p:txBody>
      </p:sp>
      <p:grpSp>
        <p:nvGrpSpPr>
          <p:cNvPr id="3" name="P06 · Схема интерфейса: personal-bookmarks"/>
          <p:cNvGrpSpPr/>
          <p:nvPr/>
        </p:nvGrpSpPr>
        <p:grpSpPr>
          <a:xfrm>
            <a:off x="609600" y="1625600"/>
            <a:ext cx="4927600" cy="4140200"/>
            <a:chOff x="609600" y="1625600"/>
            <a:chExt cx="4927600" cy="4140200"/>
          </a:xfrm>
        </p:grpSpPr>
        <p:sp>
          <p:nvSpPr>
            <p:cNvPr id="4" name="P06 · Схема интерфейса · сохранённый выбор"/>
            <p:cNvSpPr txBox="1"/>
            <p:nvPr/>
          </p:nvSpPr>
          <p:spPr>
            <a:xfrm>
              <a:off x="609600" y="1625600"/>
              <a:ext cx="4927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 · сохранённый выбор</a:t>
              </a:r>
            </a:p>
          </p:txBody>
        </p:sp>
        <p:sp>
          <p:nvSpPr>
            <p:cNvPr id="5" name="P06 · Блок 2"/>
            <p:cNvSpPr/>
            <p:nvPr/>
          </p:nvSpPr>
          <p:spPr>
            <a:xfrm>
              <a:off x="609600" y="1955800"/>
              <a:ext cx="4927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P06 · Мои события"/>
            <p:cNvSpPr txBox="1"/>
            <p:nvPr/>
          </p:nvSpPr>
          <p:spPr>
            <a:xfrm>
              <a:off x="914400" y="2209800"/>
              <a:ext cx="4318000" cy="439191"/>
            </a:xfrm>
            <a:prstGeom prst="rect">
              <a:avLst/>
            </a:prstGeom>
            <a:noFill/>
          </p:spPr>
          <p:txBody>
            <a:bodyPr wrap="none" lIns="0" rIns="0" tIns="5283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600">
                  <a:latin typeface="Segoe UI"/>
                </a:defRPr>
              </a:pPr>
              <a:r>
                <a:rPr sz="2600" b="1" i="0" u="none" lang="ru-RU" kern="120000">
                  <a:solidFill>
                    <a:srgbClr val="142F3D"/>
                  </a:solidFill>
                  <a:latin typeface="Segoe UI"/>
                </a:rPr>
                <a:t>Мои события</a:t>
              </a:r>
            </a:p>
          </p:txBody>
        </p:sp>
        <p:sp>
          <p:nvSpPr>
            <p:cNvPr id="7" name="P06 · 1. Гелий Коржев. Свет и тень"/>
            <p:cNvSpPr txBox="1"/>
            <p:nvPr/>
          </p:nvSpPr>
          <p:spPr>
            <a:xfrm>
              <a:off x="914400" y="2921000"/>
              <a:ext cx="43180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1. Гелий Коржев. Свет и тень</a:t>
              </a:r>
            </a:p>
          </p:txBody>
        </p:sp>
        <p:sp>
          <p:nvSpPr>
            <p:cNvPr id="8" name="P06 · 27 сентября · 1 взр., 0 дет."/>
            <p:cNvSpPr txBox="1"/>
            <p:nvPr/>
          </p:nvSpPr>
          <p:spPr>
            <a:xfrm>
              <a:off x="914400" y="3695700"/>
              <a:ext cx="4318000" cy="304055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27 сентября · 1 взр., 0 дет.</a:t>
              </a:r>
            </a:p>
          </p:txBody>
        </p:sp>
        <p:grpSp>
          <p:nvGrpSpPr>
            <p:cNvPr id="9" name="P06 · Кнопка: Открыть 1"/>
            <p:cNvGrpSpPr/>
            <p:nvPr/>
          </p:nvGrpSpPr>
          <p:grpSpPr>
            <a:xfrm>
              <a:off x="914400" y="4254500"/>
              <a:ext cx="4318000" cy="457200"/>
              <a:chOff x="914400" y="4254500"/>
              <a:chExt cx="4318000" cy="457200"/>
            </a:xfrm>
          </p:grpSpPr>
          <p:sp>
            <p:nvSpPr>
              <p:cNvPr id="10" name="P06 · Блок 1"/>
              <p:cNvSpPr/>
              <p:nvPr/>
            </p:nvSpPr>
            <p:spPr>
              <a:xfrm>
                <a:off x="914400" y="4254500"/>
                <a:ext cx="4318000" cy="4572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P06 · Открыть 1"/>
              <p:cNvSpPr txBox="1"/>
              <p:nvPr/>
            </p:nvSpPr>
            <p:spPr>
              <a:xfrm>
                <a:off x="990600" y="4331072"/>
                <a:ext cx="4165600" cy="304055"/>
              </a:xfrm>
              <a:prstGeom prst="rect">
                <a:avLst/>
              </a:prstGeom>
              <a:noFill/>
            </p:spPr>
            <p:txBody>
              <a:bodyPr wrap="none" lIns="0" rIns="0" tIns="33832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800">
                    <a:latin typeface="Segoe UI"/>
                  </a:defRPr>
                </a:pPr>
                <a:r>
                  <a:rPr sz="1800" b="0" i="0" u="none" lang="ru-RU" kern="120000">
                    <a:solidFill>
                      <a:srgbClr val="FFFFFF"/>
                    </a:solidFill>
                    <a:latin typeface="Segoe UI"/>
                  </a:rPr>
                  <a:t>Открыть 1</a:t>
                </a:r>
              </a:p>
            </p:txBody>
          </p:sp>
        </p:grpSp>
        <p:grpSp>
          <p:nvGrpSpPr>
            <p:cNvPr id="12" name="P06 · Кнопка: Удалить мои данные"/>
            <p:cNvGrpSpPr/>
            <p:nvPr/>
          </p:nvGrpSpPr>
          <p:grpSpPr>
            <a:xfrm>
              <a:off x="914400" y="4889500"/>
              <a:ext cx="2895600" cy="482600"/>
              <a:chOff x="914400" y="4889500"/>
              <a:chExt cx="2895600" cy="482600"/>
            </a:xfrm>
          </p:grpSpPr>
          <p:sp>
            <p:nvSpPr>
              <p:cNvPr id="13" name="P06 · Блок 1"/>
              <p:cNvSpPr/>
              <p:nvPr/>
            </p:nvSpPr>
            <p:spPr>
              <a:xfrm>
                <a:off x="914400" y="4889500"/>
                <a:ext cx="2895600" cy="4826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P06 · Удалить мои данные"/>
              <p:cNvSpPr txBox="1"/>
              <p:nvPr/>
            </p:nvSpPr>
            <p:spPr>
              <a:xfrm>
                <a:off x="990600" y="4987218"/>
                <a:ext cx="2743200" cy="287163"/>
              </a:xfrm>
              <a:prstGeom prst="rect">
                <a:avLst/>
              </a:prstGeom>
              <a:noFill/>
            </p:spPr>
            <p:txBody>
              <a:bodyPr wrap="none" lIns="0" rIns="0" tIns="3195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700">
                    <a:latin typeface="Segoe UI"/>
                  </a:defRPr>
                </a:pPr>
                <a:r>
                  <a:rPr sz="1700" b="0" i="0" u="none" lang="ru-RU" kern="120000">
                    <a:solidFill>
                      <a:srgbClr val="142F3D"/>
                    </a:solidFill>
                    <a:latin typeface="Segoe UI"/>
                  </a:rPr>
                  <a:t>Удалить мои данные</a:t>
                </a:r>
              </a:p>
            </p:txBody>
          </p:sp>
        </p:grpSp>
        <p:grpSp>
          <p:nvGrpSpPr>
            <p:cNvPr id="15" name="P06 · Кнопка: Главная"/>
            <p:cNvGrpSpPr/>
            <p:nvPr/>
          </p:nvGrpSpPr>
          <p:grpSpPr>
            <a:xfrm>
              <a:off x="3962400" y="4889500"/>
              <a:ext cx="1270000" cy="482600"/>
              <a:chOff x="3962400" y="4889500"/>
              <a:chExt cx="1270000" cy="482600"/>
            </a:xfrm>
          </p:grpSpPr>
          <p:sp>
            <p:nvSpPr>
              <p:cNvPr id="16" name="P06 · Блок 1"/>
              <p:cNvSpPr/>
              <p:nvPr/>
            </p:nvSpPr>
            <p:spPr>
              <a:xfrm>
                <a:off x="3962400" y="4889500"/>
                <a:ext cx="1270000" cy="4826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P06 · Главная"/>
              <p:cNvSpPr txBox="1"/>
              <p:nvPr/>
            </p:nvSpPr>
            <p:spPr>
              <a:xfrm>
                <a:off x="4038600" y="4987218"/>
                <a:ext cx="1117600" cy="287163"/>
              </a:xfrm>
              <a:prstGeom prst="rect">
                <a:avLst/>
              </a:prstGeom>
              <a:noFill/>
            </p:spPr>
            <p:txBody>
              <a:bodyPr wrap="none" lIns="0" rIns="0" tIns="3195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700">
                    <a:latin typeface="Segoe UI"/>
                  </a:defRPr>
                </a:pPr>
                <a:r>
                  <a:rPr sz="1700" b="0" i="0" u="none" lang="ru-RU" kern="120000">
                    <a:solidFill>
                      <a:srgbClr val="142F3D"/>
                    </a:solidFill>
                    <a:latin typeface="Segoe UI"/>
                  </a:rPr>
                  <a:t>Главная</a:t>
                </a:r>
              </a:p>
            </p:txBody>
          </p:sp>
        </p:grpSp>
      </p:grpSp>
      <p:sp>
        <p:nvSpPr>
          <p:cNvPr id="18" name="P06 · 01"/>
          <p:cNvSpPr txBox="1"/>
          <p:nvPr/>
        </p:nvSpPr>
        <p:spPr>
          <a:xfrm>
            <a:off x="6146800" y="18542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19" name="P06 · Начать обычный диалог"/>
          <p:cNvSpPr txBox="1"/>
          <p:nvPr/>
        </p:nvSpPr>
        <p:spPr>
          <a:xfrm>
            <a:off x="6807200" y="18288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Начать обычный диалог</a:t>
            </a:r>
          </a:p>
        </p:txBody>
      </p:sp>
      <p:sp>
        <p:nvSpPr>
          <p:cNvPr id="20" name="P06 · Предварительное одобрение"/>
          <p:cNvSpPr txBox="1"/>
          <p:nvPr/>
        </p:nvSpPr>
        <p:spPr>
          <a:xfrm>
            <a:off x="6807200" y="23114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Предварительное одобрение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оператора не требуется</a:t>
            </a:r>
          </a:p>
        </p:txBody>
      </p:sp>
      <p:sp>
        <p:nvSpPr>
          <p:cNvPr id="21" name="P06 · 02"/>
          <p:cNvSpPr txBox="1"/>
          <p:nvPr/>
        </p:nvSpPr>
        <p:spPr>
          <a:xfrm>
            <a:off x="6146800" y="31369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22" name="P06 · Сохранить свой выбор"/>
          <p:cNvSpPr txBox="1"/>
          <p:nvPr/>
        </p:nvSpPr>
        <p:spPr>
          <a:xfrm>
            <a:off x="6807200" y="31115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Сохранить свой выбор</a:t>
            </a:r>
          </a:p>
        </p:txBody>
      </p:sp>
      <p:sp>
        <p:nvSpPr>
          <p:cNvPr id="23" name="P06 · Другие пользователи не могут"/>
          <p:cNvSpPr txBox="1"/>
          <p:nvPr/>
        </p:nvSpPr>
        <p:spPr>
          <a:xfrm>
            <a:off x="6807200" y="35941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Другие пользователи не могут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управлять вашими закладками</a:t>
            </a:r>
          </a:p>
        </p:txBody>
      </p:sp>
      <p:sp>
        <p:nvSpPr>
          <p:cNvPr id="24" name="P06 · 03"/>
          <p:cNvSpPr txBox="1"/>
          <p:nvPr/>
        </p:nvSpPr>
        <p:spPr>
          <a:xfrm>
            <a:off x="6146800" y="44196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5" name="P06 · Удалить свои данные"/>
          <p:cNvSpPr txBox="1"/>
          <p:nvPr/>
        </p:nvSpPr>
        <p:spPr>
          <a:xfrm>
            <a:off x="6807200" y="43942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Удалить свои данные</a:t>
            </a:r>
          </a:p>
        </p:txBody>
      </p:sp>
      <p:sp>
        <p:nvSpPr>
          <p:cNvPr id="26" name="P06 · Настройки и закладки удаляются"/>
          <p:cNvSpPr txBox="1"/>
          <p:nvPr/>
        </p:nvSpPr>
        <p:spPr>
          <a:xfrm>
            <a:off x="6807200" y="48768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Настройки и закладки удаляются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после отдельного подтверждения</a:t>
            </a:r>
          </a:p>
        </p:txBody>
      </p:sp>
      <p:sp>
        <p:nvSpPr>
          <p:cNvPr id="27" name="P06 · Хранятся настройки, закладки и технические идентификаторы MAX."/>
          <p:cNvSpPr txBox="1"/>
          <p:nvPr/>
        </p:nvSpPr>
        <p:spPr>
          <a:xfrm>
            <a:off x="609600" y="6019800"/>
            <a:ext cx="109728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47616B"/>
                </a:solidFill>
                <a:latin typeface="Segoe UI"/>
              </a:rPr>
              <a:t>Хранятся настройки, закладки и технические идентификаторы MAX.</a:t>
            </a:r>
            <a:br/>
            <a:r>
              <a:rPr sz="1700" b="0" i="0" u="none" lang="ru-RU" kern="120000">
                <a:solidFill>
                  <a:srgbClr val="47616B"/>
                </a:solidFill>
                <a:latin typeface="Segoe UI"/>
              </a:rPr>
              <a:t>Удаление данных бота не стирает историю чата и старые резервные копии.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7 · Диалог снаружи, подбор и память внутр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Диалог снаружи, подбор и память внутри</a:t>
            </a:r>
          </a:p>
        </p:txBody>
      </p:sp>
      <p:grpSp>
        <p:nvGrpSpPr>
          <p:cNvPr id="3" name="P07 · Стрелка"/>
          <p:cNvGrpSpPr/>
          <p:nvPr/>
        </p:nvGrpSpPr>
        <p:grpSpPr>
          <a:xfrm>
            <a:off x="2933700" y="2489200"/>
            <a:ext cx="533400" cy="0"/>
            <a:chOff x="2933700" y="2489200"/>
            <a:chExt cx="533400" cy="0"/>
          </a:xfrm>
        </p:grpSpPr>
        <p:cxnSp>
          <p:nvCxnSpPr>
            <p:cNvPr id="4" name="P07 · Соединитель 1"/>
            <p:cNvCxnSpPr/>
            <p:nvPr/>
          </p:nvCxnSpPr>
          <p:spPr>
            <a:xfrm>
              <a:off x="2933700" y="2489200"/>
              <a:ext cx="5334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5" name="P07 · Наконечник"/>
            <p:cNvSpPr/>
            <p:nvPr/>
          </p:nvSpPr>
          <p:spPr>
            <a:xfrm>
              <a:off x="3390900" y="2447290"/>
              <a:ext cx="76200" cy="83820"/>
            </a:xfrm>
            <a:custGeom>
              <a:avLst/>
              <a:gdLst/>
              <a:ahLst/>
              <a:cxnLst/>
              <a:rect l="l" t="t" r="r" b="b"/>
              <a:pathLst>
                <a:path w="76200" h="83820">
                  <a:moveTo>
                    <a:pt x="76200" y="41910"/>
                  </a:moveTo>
                  <a:lnTo>
                    <a:pt x="0" y="0"/>
                  </a:lnTo>
                  <a:lnTo>
                    <a:pt x="0" y="8382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" name="P07 · Стрелка"/>
          <p:cNvGrpSpPr/>
          <p:nvPr/>
        </p:nvGrpSpPr>
        <p:grpSpPr>
          <a:xfrm>
            <a:off x="2933700" y="2908300"/>
            <a:ext cx="533400" cy="0"/>
            <a:chOff x="2933700" y="2908300"/>
            <a:chExt cx="533400" cy="0"/>
          </a:xfrm>
        </p:grpSpPr>
        <p:cxnSp>
          <p:nvCxnSpPr>
            <p:cNvPr id="7" name="P07 · Соединитель 1"/>
            <p:cNvCxnSpPr/>
            <p:nvPr/>
          </p:nvCxnSpPr>
          <p:spPr>
            <a:xfrm flipH="1">
              <a:off x="2933700" y="2908300"/>
              <a:ext cx="5334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8" name="P07 · Наконечник"/>
            <p:cNvSpPr/>
            <p:nvPr/>
          </p:nvSpPr>
          <p:spPr>
            <a:xfrm>
              <a:off x="2933700" y="2866390"/>
              <a:ext cx="76200" cy="83820"/>
            </a:xfrm>
            <a:custGeom>
              <a:avLst/>
              <a:gdLst/>
              <a:ahLst/>
              <a:cxnLst/>
              <a:rect l="l" t="t" r="r" b="b"/>
              <a:pathLst>
                <a:path w="76200" h="83820">
                  <a:moveTo>
                    <a:pt x="0" y="41910"/>
                  </a:moveTo>
                  <a:lnTo>
                    <a:pt x="76200" y="8382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" name="P07 · Стрелка"/>
          <p:cNvGrpSpPr/>
          <p:nvPr/>
        </p:nvGrpSpPr>
        <p:grpSpPr>
          <a:xfrm>
            <a:off x="2387600" y="3467100"/>
            <a:ext cx="2959100" cy="787400"/>
            <a:chOff x="2387600" y="3467100"/>
            <a:chExt cx="2959100" cy="787400"/>
          </a:xfrm>
        </p:grpSpPr>
        <p:cxnSp>
          <p:nvCxnSpPr>
            <p:cNvPr id="10" name="P07 · Соединитель 1"/>
            <p:cNvCxnSpPr/>
            <p:nvPr/>
          </p:nvCxnSpPr>
          <p:spPr>
            <a:xfrm>
              <a:off x="5346700" y="3467100"/>
              <a:ext cx="0" cy="4191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1" name="P07 · Соединитель 2"/>
            <p:cNvCxnSpPr/>
            <p:nvPr/>
          </p:nvCxnSpPr>
          <p:spPr>
            <a:xfrm flipH="1">
              <a:off x="2387600" y="3886200"/>
              <a:ext cx="29591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2" name="P07 · Соединитель 3"/>
            <p:cNvCxnSpPr/>
            <p:nvPr/>
          </p:nvCxnSpPr>
          <p:spPr>
            <a:xfrm>
              <a:off x="2387600" y="3886200"/>
              <a:ext cx="0" cy="3683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3" name="P07 · Наконечник"/>
            <p:cNvSpPr/>
            <p:nvPr/>
          </p:nvSpPr>
          <p:spPr>
            <a:xfrm>
              <a:off x="2345690" y="4178300"/>
              <a:ext cx="83820" cy="76200"/>
            </a:xfrm>
            <a:custGeom>
              <a:avLst/>
              <a:gdLst/>
              <a:ahLst/>
              <a:cxnLst/>
              <a:rect l="l" t="t" r="r" b="b"/>
              <a:pathLst>
                <a:path w="83820" h="76200">
                  <a:moveTo>
                    <a:pt x="41910" y="76200"/>
                  </a:moveTo>
                  <a:lnTo>
                    <a:pt x="838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" name="P07 · Стрелка"/>
          <p:cNvGrpSpPr/>
          <p:nvPr/>
        </p:nvGrpSpPr>
        <p:grpSpPr>
          <a:xfrm>
            <a:off x="5346700" y="3886200"/>
            <a:ext cx="482600" cy="368300"/>
            <a:chOff x="5346700" y="3886200"/>
            <a:chExt cx="482600" cy="368300"/>
          </a:xfrm>
        </p:grpSpPr>
        <p:cxnSp>
          <p:nvCxnSpPr>
            <p:cNvPr id="15" name="P07 · Соединитель 1"/>
            <p:cNvCxnSpPr/>
            <p:nvPr/>
          </p:nvCxnSpPr>
          <p:spPr>
            <a:xfrm>
              <a:off x="5346700" y="3886200"/>
              <a:ext cx="482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6" name="P07 · Соединитель 2"/>
            <p:cNvCxnSpPr/>
            <p:nvPr/>
          </p:nvCxnSpPr>
          <p:spPr>
            <a:xfrm>
              <a:off x="5829300" y="3886200"/>
              <a:ext cx="0" cy="3683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7" name="P07 · Наконечник"/>
            <p:cNvSpPr/>
            <p:nvPr/>
          </p:nvSpPr>
          <p:spPr>
            <a:xfrm>
              <a:off x="5787390" y="4178300"/>
              <a:ext cx="83820" cy="76200"/>
            </a:xfrm>
            <a:custGeom>
              <a:avLst/>
              <a:gdLst/>
              <a:ahLst/>
              <a:cxnLst/>
              <a:rect l="l" t="t" r="r" b="b"/>
              <a:pathLst>
                <a:path w="83820" h="76200">
                  <a:moveTo>
                    <a:pt x="41910" y="76200"/>
                  </a:moveTo>
                  <a:lnTo>
                    <a:pt x="838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" name="P07 · Блок схемы"/>
          <p:cNvGrpSpPr/>
          <p:nvPr/>
        </p:nvGrpSpPr>
        <p:grpSpPr>
          <a:xfrm>
            <a:off x="609600" y="1993900"/>
            <a:ext cx="2286000" cy="1435100"/>
            <a:chOff x="609600" y="1993900"/>
            <a:chExt cx="2286000" cy="1435100"/>
          </a:xfrm>
        </p:grpSpPr>
        <p:sp>
          <p:nvSpPr>
            <p:cNvPr id="18" name="P07 · Блок 6"/>
            <p:cNvSpPr/>
            <p:nvPr/>
          </p:nvSpPr>
          <p:spPr>
            <a:xfrm>
              <a:off x="609600" y="1993900"/>
              <a:ext cx="2286000" cy="14351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P07 · Диалог в MAX"/>
            <p:cNvSpPr txBox="1"/>
            <p:nvPr/>
          </p:nvSpPr>
          <p:spPr>
            <a:xfrm>
              <a:off x="812800" y="2184400"/>
              <a:ext cx="18796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Диалог в MAX</a:t>
              </a:r>
            </a:p>
          </p:txBody>
        </p:sp>
        <p:sp>
          <p:nvSpPr>
            <p:cNvPr id="20" name="P07 · Запрос и результат"/>
            <p:cNvSpPr txBox="1"/>
            <p:nvPr/>
          </p:nvSpPr>
          <p:spPr>
            <a:xfrm>
              <a:off x="812800" y="2641600"/>
              <a:ext cx="18796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Запрос и</a:t>
              </a:r>
              <a:br/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результат</a:t>
              </a:r>
            </a:p>
          </p:txBody>
        </p:sp>
      </p:grpSp>
      <p:grpSp>
        <p:nvGrpSpPr>
          <p:cNvPr id="44" name="P07 · Блок схемы"/>
          <p:cNvGrpSpPr/>
          <p:nvPr/>
        </p:nvGrpSpPr>
        <p:grpSpPr>
          <a:xfrm>
            <a:off x="3530600" y="1993900"/>
            <a:ext cx="3632200" cy="1435100"/>
            <a:chOff x="3530600" y="1993900"/>
            <a:chExt cx="3632200" cy="1435100"/>
          </a:xfrm>
        </p:grpSpPr>
        <p:sp>
          <p:nvSpPr>
            <p:cNvPr id="21" name="P07 · Блок 9"/>
            <p:cNvSpPr/>
            <p:nvPr/>
          </p:nvSpPr>
          <p:spPr>
            <a:xfrm>
              <a:off x="3530600" y="1993900"/>
              <a:ext cx="3632200" cy="1435100"/>
            </a:xfrm>
            <a:prstGeom prst="rect">
              <a:avLst/>
            </a:pr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P07 · Сервер приложения"/>
            <p:cNvSpPr txBox="1"/>
            <p:nvPr/>
          </p:nvSpPr>
          <p:spPr>
            <a:xfrm>
              <a:off x="3733800" y="2184400"/>
              <a:ext cx="32258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FFFFFF"/>
                  </a:solidFill>
                  <a:latin typeface="Segoe UI"/>
                </a:rPr>
                <a:t>Сервер приложения</a:t>
              </a:r>
            </a:p>
          </p:txBody>
        </p:sp>
        <p:sp>
          <p:nvSpPr>
            <p:cNvPr id="23" name="P07 · Понимает условия"/>
            <p:cNvSpPr txBox="1"/>
            <p:nvPr/>
          </p:nvSpPr>
          <p:spPr>
            <a:xfrm>
              <a:off x="3733800" y="2641600"/>
              <a:ext cx="32258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FFFFFF"/>
                  </a:solidFill>
                  <a:latin typeface="Segoe UI"/>
                </a:rPr>
                <a:t>Понимает условия</a:t>
              </a:r>
              <a:br/>
              <a:r>
                <a:rPr sz="1700" b="0" i="0" u="none" lang="ru-RU" kern="120000">
                  <a:solidFill>
                    <a:srgbClr val="FFFFFF"/>
                  </a:solidFill>
                  <a:latin typeface="Segoe UI"/>
                </a:rPr>
                <a:t>и подбирает события</a:t>
              </a:r>
            </a:p>
          </p:txBody>
        </p:sp>
      </p:grpSp>
      <p:grpSp>
        <p:nvGrpSpPr>
          <p:cNvPr id="45" name="P07 · Блок схемы"/>
          <p:cNvGrpSpPr/>
          <p:nvPr/>
        </p:nvGrpSpPr>
        <p:grpSpPr>
          <a:xfrm>
            <a:off x="1016000" y="4305300"/>
            <a:ext cx="2743200" cy="1270000"/>
            <a:chOff x="1016000" y="4305300"/>
            <a:chExt cx="2743200" cy="1270000"/>
          </a:xfrm>
        </p:grpSpPr>
        <p:sp>
          <p:nvSpPr>
            <p:cNvPr id="24" name="P07 · Блок 12"/>
            <p:cNvSpPr/>
            <p:nvPr/>
          </p:nvSpPr>
          <p:spPr>
            <a:xfrm>
              <a:off x="1016000" y="4305300"/>
              <a:ext cx="2743200" cy="127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P07 · Каталог событий"/>
            <p:cNvSpPr txBox="1"/>
            <p:nvPr/>
          </p:nvSpPr>
          <p:spPr>
            <a:xfrm>
              <a:off x="1219200" y="4495800"/>
              <a:ext cx="23368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Каталог событий</a:t>
              </a:r>
            </a:p>
          </p:txBody>
        </p:sp>
        <p:sp>
          <p:nvSpPr>
            <p:cNvPr id="26" name="P07 · Факты и источники"/>
            <p:cNvSpPr txBox="1"/>
            <p:nvPr/>
          </p:nvSpPr>
          <p:spPr>
            <a:xfrm>
              <a:off x="1219200" y="4953000"/>
              <a:ext cx="2336800" cy="287163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Факты и источники</a:t>
              </a:r>
            </a:p>
          </p:txBody>
        </p:sp>
      </p:grpSp>
      <p:grpSp>
        <p:nvGrpSpPr>
          <p:cNvPr id="46" name="P07 · Блок схемы"/>
          <p:cNvGrpSpPr/>
          <p:nvPr/>
        </p:nvGrpSpPr>
        <p:grpSpPr>
          <a:xfrm>
            <a:off x="4216400" y="4305300"/>
            <a:ext cx="3225800" cy="1270000"/>
            <a:chOff x="4216400" y="4305300"/>
            <a:chExt cx="3225800" cy="1270000"/>
          </a:xfrm>
        </p:grpSpPr>
        <p:sp>
          <p:nvSpPr>
            <p:cNvPr id="27" name="P07 · Блок 15"/>
            <p:cNvSpPr/>
            <p:nvPr/>
          </p:nvSpPr>
          <p:spPr>
            <a:xfrm>
              <a:off x="4216400" y="4305300"/>
              <a:ext cx="3225800" cy="127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07 · Личные данные"/>
            <p:cNvSpPr txBox="1"/>
            <p:nvPr/>
          </p:nvSpPr>
          <p:spPr>
            <a:xfrm>
              <a:off x="4419600" y="4495800"/>
              <a:ext cx="28194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Личные данные</a:t>
              </a:r>
            </a:p>
          </p:txBody>
        </p:sp>
        <p:sp>
          <p:nvSpPr>
            <p:cNvPr id="29" name="P07 · Настройки и закладки"/>
            <p:cNvSpPr txBox="1"/>
            <p:nvPr/>
          </p:nvSpPr>
          <p:spPr>
            <a:xfrm>
              <a:off x="4419600" y="4953000"/>
              <a:ext cx="2819400" cy="287163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Настройки и закладки</a:t>
              </a:r>
            </a:p>
          </p:txBody>
        </p:sp>
      </p:grpSp>
      <p:grpSp>
        <p:nvGrpSpPr>
          <p:cNvPr id="47" name="P07 · Блок схемы"/>
          <p:cNvGrpSpPr/>
          <p:nvPr/>
        </p:nvGrpSpPr>
        <p:grpSpPr>
          <a:xfrm>
            <a:off x="7950200" y="1536700"/>
            <a:ext cx="3632200" cy="4089400"/>
            <a:chOff x="7950200" y="1536700"/>
            <a:chExt cx="3632200" cy="4089400"/>
          </a:xfrm>
        </p:grpSpPr>
        <p:sp>
          <p:nvSpPr>
            <p:cNvPr id="30" name="P07 · Блок 18"/>
            <p:cNvSpPr/>
            <p:nvPr/>
          </p:nvSpPr>
          <p:spPr>
            <a:xfrm>
              <a:off x="7950200" y="1536700"/>
              <a:ext cx="3632200" cy="40894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P07 · Технологии и роли"/>
            <p:cNvSpPr txBox="1"/>
            <p:nvPr/>
          </p:nvSpPr>
          <p:spPr>
            <a:xfrm>
              <a:off x="8204200" y="1701800"/>
              <a:ext cx="31242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FFFFFF"/>
                  </a:solidFill>
                  <a:latin typeface="Segoe UI"/>
                </a:rPr>
                <a:t>Технологии и роли</a:t>
              </a:r>
            </a:p>
          </p:txBody>
        </p:sp>
        <p:sp>
          <p:nvSpPr>
            <p:cNvPr id="32" name="P07 · TypeScript"/>
            <p:cNvSpPr txBox="1"/>
            <p:nvPr/>
          </p:nvSpPr>
          <p:spPr>
            <a:xfrm>
              <a:off x="8204200" y="22606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TypeScript</a:t>
              </a:r>
            </a:p>
          </p:txBody>
        </p:sp>
        <p:sp>
          <p:nvSpPr>
            <p:cNvPr id="33" name="P07 · Логика приложения"/>
            <p:cNvSpPr txBox="1"/>
            <p:nvPr/>
          </p:nvSpPr>
          <p:spPr>
            <a:xfrm>
              <a:off x="8204200" y="26162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Логика приложения</a:t>
              </a:r>
            </a:p>
          </p:txBody>
        </p:sp>
        <p:sp>
          <p:nvSpPr>
            <p:cNvPr id="34" name="P07 · Fastify"/>
            <p:cNvSpPr txBox="1"/>
            <p:nvPr/>
          </p:nvSpPr>
          <p:spPr>
            <a:xfrm>
              <a:off x="8204200" y="29083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Fastify</a:t>
              </a:r>
            </a:p>
          </p:txBody>
        </p:sp>
        <p:sp>
          <p:nvSpPr>
            <p:cNvPr id="35" name="P07 · Сервер и HTTP"/>
            <p:cNvSpPr txBox="1"/>
            <p:nvPr/>
          </p:nvSpPr>
          <p:spPr>
            <a:xfrm>
              <a:off x="8204200" y="32639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Сервер и HTTP</a:t>
              </a:r>
            </a:p>
          </p:txBody>
        </p:sp>
        <p:sp>
          <p:nvSpPr>
            <p:cNvPr id="36" name="P07 · SQLite"/>
            <p:cNvSpPr txBox="1"/>
            <p:nvPr/>
          </p:nvSpPr>
          <p:spPr>
            <a:xfrm>
              <a:off x="8204200" y="35560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SQLite</a:t>
              </a:r>
            </a:p>
          </p:txBody>
        </p:sp>
        <p:sp>
          <p:nvSpPr>
            <p:cNvPr id="37" name="P07 · Настройки и закладки"/>
            <p:cNvSpPr txBox="1"/>
            <p:nvPr/>
          </p:nvSpPr>
          <p:spPr>
            <a:xfrm>
              <a:off x="8204200" y="39116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Настройки и закладки</a:t>
              </a:r>
            </a:p>
          </p:txBody>
        </p:sp>
        <p:sp>
          <p:nvSpPr>
            <p:cNvPr id="38" name="P07 · Docker"/>
            <p:cNvSpPr txBox="1"/>
            <p:nvPr/>
          </p:nvSpPr>
          <p:spPr>
            <a:xfrm>
              <a:off x="8204200" y="42037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Docker</a:t>
              </a:r>
            </a:p>
          </p:txBody>
        </p:sp>
        <p:sp>
          <p:nvSpPr>
            <p:cNvPr id="39" name="P07 · Повторяемый запуск"/>
            <p:cNvSpPr txBox="1"/>
            <p:nvPr/>
          </p:nvSpPr>
          <p:spPr>
            <a:xfrm>
              <a:off x="8204200" y="45593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Повторяемый запуск</a:t>
              </a:r>
            </a:p>
          </p:txBody>
        </p:sp>
        <p:sp>
          <p:nvSpPr>
            <p:cNvPr id="40" name="P07 · MAX API / вебхуки"/>
            <p:cNvSpPr txBox="1"/>
            <p:nvPr/>
          </p:nvSpPr>
          <p:spPr>
            <a:xfrm>
              <a:off x="8204200" y="48514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MAX API / вебхуки</a:t>
              </a:r>
            </a:p>
          </p:txBody>
        </p:sp>
        <p:sp>
          <p:nvSpPr>
            <p:cNvPr id="41" name="P07 · Связь с платформой"/>
            <p:cNvSpPr txBox="1"/>
            <p:nvPr/>
          </p:nvSpPr>
          <p:spPr>
            <a:xfrm>
              <a:off x="8204200" y="52070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Связь с платформой</a:t>
              </a:r>
            </a:p>
          </p:txBody>
        </p:sp>
      </p:grpSp>
      <p:sp>
        <p:nvSpPr>
          <p:cNvPr id="42" name="P07 · Для разработки и оценки — опрос MAX. Для постоянной работы"/>
          <p:cNvSpPr txBox="1"/>
          <p:nvPr/>
        </p:nvSpPr>
        <p:spPr>
          <a:xfrm>
            <a:off x="609600" y="6070600"/>
            <a:ext cx="10972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Для разработки и оценки — опрос MAX. Для постоянной работы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подготовлен профиль вебхука; ещё нужны размещение и HTTPS.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8 · Проверки защищают полезный результат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Проверки защищают полезный результат</a:t>
            </a:r>
          </a:p>
        </p:txBody>
      </p:sp>
      <p:sp>
        <p:nvSpPr>
          <p:cNvPr id="3" name="P08 · 257"/>
          <p:cNvSpPr txBox="1"/>
          <p:nvPr/>
        </p:nvSpPr>
        <p:spPr>
          <a:xfrm>
            <a:off x="609600" y="1727200"/>
            <a:ext cx="4000500" cy="1739875"/>
          </a:xfrm>
          <a:prstGeom prst="rect">
            <a:avLst/>
          </a:prstGeom>
          <a:noFill/>
        </p:spPr>
        <p:txBody>
          <a:bodyPr wrap="none" lIns="0" rIns="0" tIns="20929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0300">
                <a:latin typeface="Segoe UI"/>
              </a:defRPr>
            </a:pPr>
            <a:r>
              <a:rPr sz="10300" b="1" i="0" u="none" lang="ru-RU" kern="120000">
                <a:solidFill>
                  <a:srgbClr val="F1C760"/>
                </a:solidFill>
                <a:latin typeface="Segoe UI"/>
              </a:rPr>
              <a:t>257</a:t>
            </a:r>
          </a:p>
        </p:txBody>
      </p:sp>
      <p:sp>
        <p:nvSpPr>
          <p:cNvPr id="4" name="P08 · автоматических"/>
          <p:cNvSpPr txBox="1"/>
          <p:nvPr/>
        </p:nvSpPr>
        <p:spPr>
          <a:xfrm>
            <a:off x="660400" y="3543300"/>
            <a:ext cx="3911600" cy="874421"/>
          </a:xfrm>
          <a:prstGeom prst="rect">
            <a:avLst/>
          </a:prstGeom>
          <a:noFill/>
        </p:spPr>
        <p:txBody>
          <a:bodyPr wrap="none" lIns="0" rIns="0" tIns="5486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700">
                <a:latin typeface="Segoe UI"/>
              </a:defRPr>
            </a:pPr>
            <a:r>
              <a:rPr sz="2700" b="0" i="0" u="none" lang="ru-RU" kern="120000">
                <a:solidFill>
                  <a:srgbClr val="FFFFFF"/>
                </a:solidFill>
                <a:latin typeface="Segoe UI"/>
              </a:rPr>
              <a:t>автоматических</a:t>
            </a:r>
            <a:br/>
            <a:r>
              <a:rPr sz="2700" b="0" i="0" u="none" lang="ru-RU" kern="120000">
                <a:solidFill>
                  <a:srgbClr val="FFFFFF"/>
                </a:solidFill>
                <a:latin typeface="Segoe UI"/>
              </a:rPr>
              <a:t>тестов</a:t>
            </a:r>
          </a:p>
        </p:txBody>
      </p:sp>
      <p:sp>
        <p:nvSpPr>
          <p:cNvPr id="5" name="P08 · Зафиксировано 26.09.2026"/>
          <p:cNvSpPr txBox="1"/>
          <p:nvPr/>
        </p:nvSpPr>
        <p:spPr>
          <a:xfrm>
            <a:off x="660400" y="4762500"/>
            <a:ext cx="39116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C4DCDA"/>
                </a:solidFill>
                <a:latin typeface="Segoe UI"/>
              </a:rPr>
              <a:t>Зафиксировано 26.09.2026</a:t>
            </a:r>
          </a:p>
        </p:txBody>
      </p:sp>
      <p:sp>
        <p:nvSpPr>
          <p:cNvPr id="6" name="P08 · Позднейшие 29 проверок —"/>
          <p:cNvSpPr txBox="1"/>
          <p:nvPr/>
        </p:nvSpPr>
        <p:spPr>
          <a:xfrm>
            <a:off x="660400" y="5448300"/>
            <a:ext cx="391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Позднейшие 29 проверок —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повтор части набора</a:t>
            </a:r>
          </a:p>
        </p:txBody>
      </p:sp>
      <p:sp>
        <p:nvSpPr>
          <p:cNvPr id="7" name="P08 · 01"/>
          <p:cNvSpPr txBox="1"/>
          <p:nvPr/>
        </p:nvSpPr>
        <p:spPr>
          <a:xfrm>
            <a:off x="5156200" y="16764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sp>
        <p:nvSpPr>
          <p:cNvPr id="8" name="P08 · Правила подбора"/>
          <p:cNvSpPr txBox="1"/>
          <p:nvPr/>
        </p:nvSpPr>
        <p:spPr>
          <a:xfrm>
            <a:off x="5816600" y="16510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Правила подбора</a:t>
            </a:r>
          </a:p>
        </p:txBody>
      </p:sp>
      <p:sp>
        <p:nvSpPr>
          <p:cNvPr id="9" name="P08 · Не обещать неподтверждённые"/>
          <p:cNvSpPr txBox="1"/>
          <p:nvPr/>
        </p:nvSpPr>
        <p:spPr>
          <a:xfrm>
            <a:off x="5816600" y="21209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Не обещать неподтверждённые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цену, время и семейный тариф</a:t>
            </a:r>
          </a:p>
        </p:txBody>
      </p:sp>
      <p:sp>
        <p:nvSpPr>
          <p:cNvPr id="10" name="P08 · 02"/>
          <p:cNvSpPr txBox="1"/>
          <p:nvPr/>
        </p:nvSpPr>
        <p:spPr>
          <a:xfrm>
            <a:off x="5156200" y="28702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sp>
        <p:nvSpPr>
          <p:cNvPr id="11" name="P08 · Закладки и перезапуск"/>
          <p:cNvSpPr txBox="1"/>
          <p:nvPr/>
        </p:nvSpPr>
        <p:spPr>
          <a:xfrm>
            <a:off x="5816600" y="28448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Закладки и перезапуск</a:t>
            </a:r>
          </a:p>
        </p:txBody>
      </p:sp>
      <p:sp>
        <p:nvSpPr>
          <p:cNvPr id="12" name="P08 · Сохранять личный выбор"/>
          <p:cNvSpPr txBox="1"/>
          <p:nvPr/>
        </p:nvSpPr>
        <p:spPr>
          <a:xfrm>
            <a:off x="5816600" y="33147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Сохранять личный выбор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между запусками приложения</a:t>
            </a:r>
          </a:p>
        </p:txBody>
      </p:sp>
      <p:sp>
        <p:nvSpPr>
          <p:cNvPr id="13" name="P08 · 03"/>
          <p:cNvSpPr txBox="1"/>
          <p:nvPr/>
        </p:nvSpPr>
        <p:spPr>
          <a:xfrm>
            <a:off x="5156200" y="40640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sp>
        <p:nvSpPr>
          <p:cNvPr id="14" name="P08 · Разделение доступа"/>
          <p:cNvSpPr txBox="1"/>
          <p:nvPr/>
        </p:nvSpPr>
        <p:spPr>
          <a:xfrm>
            <a:off x="5816600" y="40386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Разделение доступа</a:t>
            </a:r>
          </a:p>
        </p:txBody>
      </p:sp>
      <p:sp>
        <p:nvSpPr>
          <p:cNvPr id="15" name="P08 · Не смешивать параметры"/>
          <p:cNvSpPr txBox="1"/>
          <p:nvPr/>
        </p:nvSpPr>
        <p:spPr>
          <a:xfrm>
            <a:off x="5816600" y="45085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Не смешивать параметры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закладки разных пользователей</a:t>
            </a:r>
          </a:p>
        </p:txBody>
      </p:sp>
      <p:sp>
        <p:nvSpPr>
          <p:cNvPr id="16" name="P08 · 04"/>
          <p:cNvSpPr txBox="1"/>
          <p:nvPr/>
        </p:nvSpPr>
        <p:spPr>
          <a:xfrm>
            <a:off x="5156200" y="52578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04</a:t>
            </a:r>
          </a:p>
        </p:txBody>
      </p:sp>
      <p:sp>
        <p:nvSpPr>
          <p:cNvPr id="17" name="P08 · Обработка сбоев"/>
          <p:cNvSpPr txBox="1"/>
          <p:nvPr/>
        </p:nvSpPr>
        <p:spPr>
          <a:xfrm>
            <a:off x="5816600" y="52324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Обработка сбоев</a:t>
            </a:r>
          </a:p>
        </p:txBody>
      </p:sp>
      <p:sp>
        <p:nvSpPr>
          <p:cNvPr id="18" name="P08 · Явно показывать ошибки"/>
          <p:cNvSpPr txBox="1"/>
          <p:nvPr/>
        </p:nvSpPr>
        <p:spPr>
          <a:xfrm>
            <a:off x="5816600" y="57023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Явно показывать ошибки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недоступность сведений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5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9 · Дальше — больше источников и свежие данные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Дальше — больше источников и свежие данные</a:t>
            </a:r>
          </a:p>
        </p:txBody>
      </p:sp>
      <p:sp>
        <p:nvSpPr>
          <p:cNvPr id="3" name="P09 · 01"/>
          <p:cNvSpPr txBox="1"/>
          <p:nvPr/>
        </p:nvSpPr>
        <p:spPr>
          <a:xfrm>
            <a:off x="6096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grpSp>
        <p:nvGrpSpPr>
          <p:cNvPr id="4" name="P09 · Стрелка"/>
          <p:cNvGrpSpPr/>
          <p:nvPr/>
        </p:nvGrpSpPr>
        <p:grpSpPr>
          <a:xfrm>
            <a:off x="1651000" y="2019300"/>
            <a:ext cx="2387600" cy="0"/>
            <a:chOff x="1651000" y="2019300"/>
            <a:chExt cx="2387600" cy="0"/>
          </a:xfrm>
        </p:grpSpPr>
        <p:cxnSp>
          <p:nvCxnSpPr>
            <p:cNvPr id="5" name="P09 · Соединитель 1"/>
            <p:cNvCxnSpPr/>
            <p:nvPr/>
          </p:nvCxnSpPr>
          <p:spPr>
            <a:xfrm>
              <a:off x="1651000" y="2019300"/>
              <a:ext cx="2387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6" name="P09 · Наконечник"/>
            <p:cNvSpPr/>
            <p:nvPr/>
          </p:nvSpPr>
          <p:spPr>
            <a:xfrm>
              <a:off x="3949700" y="19704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7" name="P09 · Глубже"/>
          <p:cNvSpPr txBox="1"/>
          <p:nvPr/>
        </p:nvSpPr>
        <p:spPr>
          <a:xfrm>
            <a:off x="6096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Глубже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в двух городах</a:t>
            </a:r>
          </a:p>
        </p:txBody>
      </p:sp>
      <p:sp>
        <p:nvSpPr>
          <p:cNvPr id="8" name="P09 · Расширить покрытие"/>
          <p:cNvSpPr txBox="1"/>
          <p:nvPr/>
        </p:nvSpPr>
        <p:spPr>
          <a:xfrm>
            <a:off x="6096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Расширить покрытие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уточнить возрастные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условия и тарифы</a:t>
            </a:r>
          </a:p>
        </p:txBody>
      </p:sp>
      <p:sp>
        <p:nvSpPr>
          <p:cNvPr id="9" name="P09 · 02"/>
          <p:cNvSpPr txBox="1"/>
          <p:nvPr/>
        </p:nvSpPr>
        <p:spPr>
          <a:xfrm>
            <a:off x="43688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grpSp>
        <p:nvGrpSpPr>
          <p:cNvPr id="10" name="P09 · Стрелка"/>
          <p:cNvGrpSpPr/>
          <p:nvPr/>
        </p:nvGrpSpPr>
        <p:grpSpPr>
          <a:xfrm>
            <a:off x="5410200" y="2019300"/>
            <a:ext cx="2387600" cy="0"/>
            <a:chOff x="5410200" y="2019300"/>
            <a:chExt cx="2387600" cy="0"/>
          </a:xfrm>
        </p:grpSpPr>
        <p:cxnSp>
          <p:nvCxnSpPr>
            <p:cNvPr id="11" name="P09 · Соединитель 1"/>
            <p:cNvCxnSpPr/>
            <p:nvPr/>
          </p:nvCxnSpPr>
          <p:spPr>
            <a:xfrm>
              <a:off x="5410200" y="2019300"/>
              <a:ext cx="2387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2" name="P09 · Наконечник"/>
            <p:cNvSpPr/>
            <p:nvPr/>
          </p:nvSpPr>
          <p:spPr>
            <a:xfrm>
              <a:off x="7708900" y="19704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P09 · Больше источников"/>
          <p:cNvSpPr txBox="1"/>
          <p:nvPr/>
        </p:nvSpPr>
        <p:spPr>
          <a:xfrm>
            <a:off x="43688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Больше источников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и городов</a:t>
            </a:r>
          </a:p>
        </p:txBody>
      </p:sp>
      <p:sp>
        <p:nvSpPr>
          <p:cNvPr id="14" name="P09 · Добавлять проверенные"/>
          <p:cNvSpPr txBox="1"/>
          <p:nvPr/>
        </p:nvSpPr>
        <p:spPr>
          <a:xfrm>
            <a:off x="43688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Добавлять проверенные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публикации и адаптеры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с учётом местных условий</a:t>
            </a:r>
          </a:p>
        </p:txBody>
      </p:sp>
      <p:sp>
        <p:nvSpPr>
          <p:cNvPr id="15" name="P09 · 03"/>
          <p:cNvSpPr txBox="1"/>
          <p:nvPr/>
        </p:nvSpPr>
        <p:spPr>
          <a:xfrm>
            <a:off x="81280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6" name="P09 · Разрешённые API"/>
          <p:cNvSpPr txBox="1"/>
          <p:nvPr/>
        </p:nvSpPr>
        <p:spPr>
          <a:xfrm>
            <a:off x="81280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Разрешённые API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и расписание</a:t>
            </a:r>
          </a:p>
        </p:txBody>
      </p:sp>
      <p:sp>
        <p:nvSpPr>
          <p:cNvPr id="17" name="P09 · Получать события"/>
          <p:cNvSpPr txBox="1"/>
          <p:nvPr/>
        </p:nvSpPr>
        <p:spPr>
          <a:xfrm>
            <a:off x="81280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Получать события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по поддержанным фильтрам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обновлять автоматически</a:t>
            </a:r>
          </a:p>
        </p:txBody>
      </p:sp>
      <p:grpSp>
        <p:nvGrpSpPr>
          <p:cNvPr id="21" name="P09 · Блок схемы"/>
          <p:cNvGrpSpPr/>
          <p:nvPr/>
        </p:nvGrpSpPr>
        <p:grpSpPr>
          <a:xfrm>
            <a:off x="0" y="5016500"/>
            <a:ext cx="12192000" cy="1193800"/>
            <a:chOff x="0" y="5016500"/>
            <a:chExt cx="12192000" cy="1193800"/>
          </a:xfrm>
        </p:grpSpPr>
        <p:sp>
          <p:nvSpPr>
            <p:cNvPr id="18" name="P09 · Блок 13"/>
            <p:cNvSpPr/>
            <p:nvPr/>
          </p:nvSpPr>
          <p:spPr>
            <a:xfrm>
              <a:off x="0" y="5016500"/>
              <a:ext cx="12192000" cy="11938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P09 · Для API нужны доступ и условия использования, полезные поля и фильтры,"/>
            <p:cNvSpPr txBox="1"/>
            <p:nvPr/>
          </p:nvSpPr>
          <p:spPr>
            <a:xfrm>
              <a:off x="609600" y="5245100"/>
              <a:ext cx="10972800" cy="615333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0" i="0" u="none" lang="ru-RU" kern="120000">
                  <a:solidFill>
                    <a:srgbClr val="FFFFFF"/>
                  </a:solidFill>
                  <a:latin typeface="Segoe UI"/>
                </a:rPr>
                <a:t>Для API нужны доступ и условия использования, полезные поля и фильтры,</a:t>
              </a:r>
              <a:br/>
              <a:r>
                <a:rPr sz="1900" b="0" i="0" u="none" lang="ru-RU" kern="120000">
                  <a:solidFill>
                    <a:srgbClr val="FFFFFF"/>
                  </a:solidFill>
                  <a:latin typeface="Segoe UI"/>
                </a:rPr>
                <a:t>согласованная частота обновлений. Неполные данные останутся явными.</a:t>
              </a:r>
            </a:p>
          </p:txBody>
        </p:sp>
      </p:grpSp>
      <p:sp>
        <p:nvSpPr>
          <p:cNvPr id="20" name="P09 · Ёмкость сервера — отдельный этап: измерить нагрузку и подобрать инфрас"/>
          <p:cNvSpPr txBox="1"/>
          <p:nvPr/>
        </p:nvSpPr>
        <p:spPr>
          <a:xfrm>
            <a:off x="609600" y="6438900"/>
            <a:ext cx="10972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Ёмкость сервера — отдельный этап: измерить нагрузку и подобрать инфраструктуру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0 · Ожидаем, что выбирать станет проще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Ожидаем, что выбирать станет проще</a:t>
            </a:r>
          </a:p>
        </p:txBody>
      </p:sp>
      <p:sp>
        <p:nvSpPr>
          <p:cNvPr id="3" name="P10 · Меньше ручного"/>
          <p:cNvSpPr txBox="1"/>
          <p:nvPr/>
        </p:nvSpPr>
        <p:spPr>
          <a:xfrm>
            <a:off x="609600" y="1917700"/>
            <a:ext cx="5080000" cy="2091341"/>
          </a:xfrm>
          <a:prstGeom prst="rect">
            <a:avLst/>
          </a:prstGeom>
          <a:noFill/>
        </p:spPr>
        <p:txBody>
          <a:bodyPr wrap="none" lIns="0" rIns="0" tIns="6705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300">
                <a:latin typeface="Segoe UI"/>
              </a:defRPr>
            </a:pPr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Меньше ручного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сравнения.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Больше ясности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перед посещением.</a:t>
            </a:r>
          </a:p>
        </p:txBody>
      </p:sp>
      <p:sp>
        <p:nvSpPr>
          <p:cNvPr id="4" name="P10 · Сравним самостоятельный поиск"/>
          <p:cNvSpPr txBox="1"/>
          <p:nvPr/>
        </p:nvSpPr>
        <p:spPr>
          <a:xfrm>
            <a:off x="609600" y="5118100"/>
            <a:ext cx="50546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Сравним самостоятельный поиск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диалог на одинаковых заданиях</a:t>
            </a:r>
          </a:p>
        </p:txBody>
      </p:sp>
      <p:cxnSp>
        <p:nvCxnSpPr>
          <p:cNvPr id="5" name="P10 · Соединитель 4"/>
          <p:cNvCxnSpPr/>
          <p:nvPr/>
        </p:nvCxnSpPr>
        <p:spPr>
          <a:xfrm>
            <a:off x="5854700" y="1828800"/>
            <a:ext cx="0" cy="4305300"/>
          </a:xfrm>
          <a:prstGeom prst="line">
            <a:avLst/>
          </a:prstGeom>
          <a:ln w="19050">
            <a:solidFill>
              <a:srgbClr val="BCD0CF"/>
            </a:solidFill>
          </a:ln>
          <a:effectLst/>
        </p:spPr>
      </p:cxnSp>
      <p:sp>
        <p:nvSpPr>
          <p:cNvPr id="6" name="P10 · Планируем проверить"/>
          <p:cNvSpPr txBox="1"/>
          <p:nvPr/>
        </p:nvSpPr>
        <p:spPr>
          <a:xfrm>
            <a:off x="6451600" y="1701800"/>
            <a:ext cx="51308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Планируем проверить</a:t>
            </a:r>
          </a:p>
        </p:txBody>
      </p:sp>
      <p:sp>
        <p:nvSpPr>
          <p:cNvPr id="7" name="P10 · 01"/>
          <p:cNvSpPr txBox="1"/>
          <p:nvPr/>
        </p:nvSpPr>
        <p:spPr>
          <a:xfrm>
            <a:off x="6451600" y="25781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8" name="P10 · Время до выбора"/>
          <p:cNvSpPr txBox="1"/>
          <p:nvPr/>
        </p:nvSpPr>
        <p:spPr>
          <a:xfrm>
            <a:off x="7112000" y="25400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Время до выбора</a:t>
            </a:r>
          </a:p>
        </p:txBody>
      </p:sp>
      <p:sp>
        <p:nvSpPr>
          <p:cNvPr id="9" name="P10 · От получения задачи"/>
          <p:cNvSpPr txBox="1"/>
          <p:nvPr/>
        </p:nvSpPr>
        <p:spPr>
          <a:xfrm>
            <a:off x="7112000" y="30099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От получения задачи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 подходящего варианта</a:t>
            </a:r>
          </a:p>
        </p:txBody>
      </p:sp>
      <p:sp>
        <p:nvSpPr>
          <p:cNvPr id="10" name="P10 · 02"/>
          <p:cNvSpPr txBox="1"/>
          <p:nvPr/>
        </p:nvSpPr>
        <p:spPr>
          <a:xfrm>
            <a:off x="6451600" y="37846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1" name="P10 · Завершение подбора"/>
          <p:cNvSpPr txBox="1"/>
          <p:nvPr/>
        </p:nvSpPr>
        <p:spPr>
          <a:xfrm>
            <a:off x="7112000" y="37465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Завершение подбора</a:t>
            </a:r>
          </a:p>
        </p:txBody>
      </p:sp>
      <p:sp>
        <p:nvSpPr>
          <p:cNvPr id="12" name="P10 · Удалось ли дойти"/>
          <p:cNvSpPr txBox="1"/>
          <p:nvPr/>
        </p:nvSpPr>
        <p:spPr>
          <a:xfrm>
            <a:off x="7112000" y="42164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Удалось ли дойти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 решения о посещении</a:t>
            </a:r>
          </a:p>
        </p:txBody>
      </p:sp>
      <p:sp>
        <p:nvSpPr>
          <p:cNvPr id="13" name="P10 · 03"/>
          <p:cNvSpPr txBox="1"/>
          <p:nvPr/>
        </p:nvSpPr>
        <p:spPr>
          <a:xfrm>
            <a:off x="6451600" y="49911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4" name="P10 · Полезная закладка"/>
          <p:cNvSpPr txBox="1"/>
          <p:nvPr/>
        </p:nvSpPr>
        <p:spPr>
          <a:xfrm>
            <a:off x="7112000" y="49530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Полезная закладка</a:t>
            </a:r>
          </a:p>
        </p:txBody>
      </p:sp>
      <p:sp>
        <p:nvSpPr>
          <p:cNvPr id="15" name="P10 · Доля подборов, завершившихся"/>
          <p:cNvSpPr txBox="1"/>
          <p:nvPr/>
        </p:nvSpPr>
        <p:spPr>
          <a:xfrm>
            <a:off x="7112000" y="54229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Доля подборов, завершившихся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нужным сохранённым вариантом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1 · Комплект для воспроизводимой оценк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Комплект для воспроизводимой оценки</a:t>
            </a:r>
          </a:p>
        </p:txBody>
      </p:sp>
      <p:sp>
        <p:nvSpPr>
          <p:cNvPr id="3" name="P11 · Блок 2"/>
          <p:cNvSpPr/>
          <p:nvPr/>
        </p:nvSpPr>
        <p:spPr>
          <a:xfrm>
            <a:off x="609600" y="1651000"/>
            <a:ext cx="3530600" cy="381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P11 · 01"/>
          <p:cNvSpPr txBox="1"/>
          <p:nvPr/>
        </p:nvSpPr>
        <p:spPr>
          <a:xfrm>
            <a:off x="609600" y="18288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11 · Исходный код"/>
          <p:cNvSpPr txBox="1"/>
          <p:nvPr/>
        </p:nvSpPr>
        <p:spPr>
          <a:xfrm>
            <a:off x="1219200" y="17907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Исходный код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 описание</a:t>
            </a:r>
          </a:p>
        </p:txBody>
      </p:sp>
      <p:sp>
        <p:nvSpPr>
          <p:cNvPr id="6" name="P11 · Назначение, сценарий,"/>
          <p:cNvSpPr txBox="1"/>
          <p:nvPr/>
        </p:nvSpPr>
        <p:spPr>
          <a:xfrm>
            <a:off x="1219200" y="27432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Назначение, сценарий,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архитектура и ограничения</a:t>
            </a:r>
          </a:p>
        </p:txBody>
      </p:sp>
      <p:sp>
        <p:nvSpPr>
          <p:cNvPr id="7" name="P11 · Блок 6"/>
          <p:cNvSpPr/>
          <p:nvPr/>
        </p:nvSpPr>
        <p:spPr>
          <a:xfrm>
            <a:off x="4546600" y="1651000"/>
            <a:ext cx="3530600" cy="381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P11 · 02"/>
          <p:cNvSpPr txBox="1"/>
          <p:nvPr/>
        </p:nvSpPr>
        <p:spPr>
          <a:xfrm>
            <a:off x="4546600" y="18288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9" name="P11 · Воспроизводимый"/>
          <p:cNvSpPr txBox="1"/>
          <p:nvPr/>
        </p:nvSpPr>
        <p:spPr>
          <a:xfrm>
            <a:off x="5156200" y="17907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Воспроизводимый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запуск</a:t>
            </a:r>
          </a:p>
        </p:txBody>
      </p:sp>
      <p:sp>
        <p:nvSpPr>
          <p:cNvPr id="10" name="P11 · Docker, конфигурация"/>
          <p:cNvSpPr txBox="1"/>
          <p:nvPr/>
        </p:nvSpPr>
        <p:spPr>
          <a:xfrm>
            <a:off x="5156200" y="27432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Docker, конфигурация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и инструкция README</a:t>
            </a:r>
          </a:p>
        </p:txBody>
      </p:sp>
      <p:sp>
        <p:nvSpPr>
          <p:cNvPr id="11" name="P11 · Блок 10"/>
          <p:cNvSpPr/>
          <p:nvPr/>
        </p:nvSpPr>
        <p:spPr>
          <a:xfrm>
            <a:off x="609600" y="3771900"/>
            <a:ext cx="3530600" cy="38100"/>
          </a:xfrm>
          <a:prstGeom prst="rect">
            <a:avLst/>
          </a:prstGeom>
          <a:solidFill>
            <a:srgbClr val="E47F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P11 · 03"/>
          <p:cNvSpPr txBox="1"/>
          <p:nvPr/>
        </p:nvSpPr>
        <p:spPr>
          <a:xfrm>
            <a:off x="609600" y="39497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3" name="P11 · Данные и примеры"/>
          <p:cNvSpPr txBox="1"/>
          <p:nvPr/>
        </p:nvSpPr>
        <p:spPr>
          <a:xfrm>
            <a:off x="1219200" y="39116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Данные и примеры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для проверки</a:t>
            </a:r>
          </a:p>
        </p:txBody>
      </p:sp>
      <p:sp>
        <p:nvSpPr>
          <p:cNvPr id="14" name="P11 · Реальный снимок"/>
          <p:cNvSpPr txBox="1"/>
          <p:nvPr/>
        </p:nvSpPr>
        <p:spPr>
          <a:xfrm>
            <a:off x="1219200" y="48641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Реальный снимок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и синтетическое демо</a:t>
            </a:r>
          </a:p>
        </p:txBody>
      </p:sp>
      <p:sp>
        <p:nvSpPr>
          <p:cNvPr id="15" name="P11 · Блок 14"/>
          <p:cNvSpPr/>
          <p:nvPr/>
        </p:nvSpPr>
        <p:spPr>
          <a:xfrm>
            <a:off x="4546600" y="3771900"/>
            <a:ext cx="3530600" cy="38100"/>
          </a:xfrm>
          <a:prstGeom prst="rect">
            <a:avLst/>
          </a:prstGeom>
          <a:solidFill>
            <a:srgbClr val="E47F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11 · 04"/>
          <p:cNvSpPr txBox="1"/>
          <p:nvPr/>
        </p:nvSpPr>
        <p:spPr>
          <a:xfrm>
            <a:off x="4546600" y="39497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7" name="P11 · Презентация"/>
          <p:cNvSpPr txBox="1"/>
          <p:nvPr/>
        </p:nvSpPr>
        <p:spPr>
          <a:xfrm>
            <a:off x="5156200" y="39116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Презентация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 API-контракты</a:t>
            </a:r>
          </a:p>
        </p:txBody>
      </p:sp>
      <p:sp>
        <p:nvSpPr>
          <p:cNvPr id="18" name="P11 · PDF и исходник слайдов;"/>
          <p:cNvSpPr txBox="1"/>
          <p:nvPr/>
        </p:nvSpPr>
        <p:spPr>
          <a:xfrm>
            <a:off x="5156200" y="48641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PDF и исходник слайдов;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OpenAPI и DATA-API</a:t>
            </a:r>
          </a:p>
        </p:txBody>
      </p:sp>
      <p:grpSp>
        <p:nvGrpSpPr>
          <p:cNvPr id="30" name="P11 · Блок схемы"/>
          <p:cNvGrpSpPr/>
          <p:nvPr/>
        </p:nvGrpSpPr>
        <p:grpSpPr>
          <a:xfrm>
            <a:off x="8763000" y="1587500"/>
            <a:ext cx="2819400" cy="4254500"/>
            <a:chOff x="8763000" y="1587500"/>
            <a:chExt cx="2819400" cy="4254500"/>
          </a:xfrm>
        </p:grpSpPr>
        <p:sp>
          <p:nvSpPr>
            <p:cNvPr id="19" name="P11 · Блок 18"/>
            <p:cNvSpPr/>
            <p:nvPr/>
          </p:nvSpPr>
          <p:spPr>
            <a:xfrm>
              <a:off x="8763000" y="1587500"/>
              <a:ext cx="2819400" cy="42545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P11 · Получить"/>
            <p:cNvSpPr txBox="1"/>
            <p:nvPr/>
          </p:nvSpPr>
          <p:spPr>
            <a:xfrm>
              <a:off x="9029700" y="1816100"/>
              <a:ext cx="2273300" cy="712491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Получить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комплект</a:t>
              </a:r>
            </a:p>
          </p:txBody>
        </p:sp>
        <p:grpSp>
          <p:nvGrpSpPr>
            <p:cNvPr id="21" name="P11 · Стрелка"/>
            <p:cNvGrpSpPr/>
            <p:nvPr/>
          </p:nvGrpSpPr>
          <p:grpSpPr>
            <a:xfrm>
              <a:off x="9131300" y="2667000"/>
              <a:ext cx="0" cy="342900"/>
              <a:chOff x="9131300" y="2667000"/>
              <a:chExt cx="0" cy="342900"/>
            </a:xfrm>
          </p:grpSpPr>
          <p:cxnSp>
            <p:nvCxnSpPr>
              <p:cNvPr id="22" name="P11 · Соединитель 1"/>
              <p:cNvCxnSpPr/>
              <p:nvPr/>
            </p:nvCxnSpPr>
            <p:spPr>
              <a:xfrm>
                <a:off x="9131300" y="2667000"/>
                <a:ext cx="0" cy="342900"/>
              </a:xfrm>
              <a:prstGeom prst="line">
                <a:avLst/>
              </a:prstGeom>
              <a:ln w="25400">
                <a:solidFill>
                  <a:srgbClr val="E47F68"/>
                </a:solidFill>
              </a:ln>
              <a:effectLst/>
            </p:spPr>
          </p:cxnSp>
          <p:sp>
            <p:nvSpPr>
              <p:cNvPr id="23" name="P11 · Наконечник"/>
              <p:cNvSpPr/>
              <p:nvPr/>
            </p:nvSpPr>
            <p:spPr>
              <a:xfrm>
                <a:off x="9089390" y="2933700"/>
                <a:ext cx="8382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76200">
                    <a:moveTo>
                      <a:pt x="41910" y="76200"/>
                    </a:moveTo>
                    <a:lnTo>
                      <a:pt x="8382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47F68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4" name="P11 · Запустить"/>
            <p:cNvSpPr txBox="1"/>
            <p:nvPr/>
          </p:nvSpPr>
          <p:spPr>
            <a:xfrm>
              <a:off x="9029700" y="3136900"/>
              <a:ext cx="2273300" cy="712491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Запустить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по README</a:t>
              </a:r>
            </a:p>
          </p:txBody>
        </p:sp>
        <p:grpSp>
          <p:nvGrpSpPr>
            <p:cNvPr id="25" name="P11 · Стрелка"/>
            <p:cNvGrpSpPr/>
            <p:nvPr/>
          </p:nvGrpSpPr>
          <p:grpSpPr>
            <a:xfrm>
              <a:off x="9131300" y="3987800"/>
              <a:ext cx="0" cy="342900"/>
              <a:chOff x="9131300" y="3987800"/>
              <a:chExt cx="0" cy="342900"/>
            </a:xfrm>
          </p:grpSpPr>
          <p:cxnSp>
            <p:nvCxnSpPr>
              <p:cNvPr id="26" name="P11 · Соединитель 1"/>
              <p:cNvCxnSpPr/>
              <p:nvPr/>
            </p:nvCxnSpPr>
            <p:spPr>
              <a:xfrm>
                <a:off x="9131300" y="3987800"/>
                <a:ext cx="0" cy="342900"/>
              </a:xfrm>
              <a:prstGeom prst="line">
                <a:avLst/>
              </a:prstGeom>
              <a:ln w="25400">
                <a:solidFill>
                  <a:srgbClr val="E47F68"/>
                </a:solidFill>
              </a:ln>
              <a:effectLst/>
            </p:spPr>
          </p:cxnSp>
          <p:sp>
            <p:nvSpPr>
              <p:cNvPr id="27" name="P11 · Наконечник"/>
              <p:cNvSpPr/>
              <p:nvPr/>
            </p:nvSpPr>
            <p:spPr>
              <a:xfrm>
                <a:off x="9089390" y="4254500"/>
                <a:ext cx="8382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76200">
                    <a:moveTo>
                      <a:pt x="41910" y="76200"/>
                    </a:moveTo>
                    <a:lnTo>
                      <a:pt x="8382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47F68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8" name="P11 · Оценить"/>
            <p:cNvSpPr txBox="1"/>
            <p:nvPr/>
          </p:nvSpPr>
          <p:spPr>
            <a:xfrm>
              <a:off x="9029700" y="4457700"/>
              <a:ext cx="2273300" cy="1053359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Оценить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основной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сценарий</a:t>
              </a:r>
            </a:p>
          </p:txBody>
        </p:sp>
      </p:grpSp>
      <p:sp>
        <p:nvSpPr>
          <p:cNvPr id="29" name="P11 · Для оценки в MAX отдельно нужна постоянно доступная служба"/>
          <p:cNvSpPr txBox="1"/>
          <p:nvPr/>
        </p:nvSpPr>
        <p:spPr>
          <a:xfrm>
            <a:off x="609600" y="62611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Для оценки в MAX отдельно нужна постоянно доступная служба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2 · Выбор с понятными условиям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Выбор с понятными условиями</a:t>
            </a:r>
          </a:p>
        </p:txBody>
      </p:sp>
      <p:sp>
        <p:nvSpPr>
          <p:cNvPr id="3" name="P12 · Подбор и личные"/>
          <p:cNvSpPr txBox="1"/>
          <p:nvPr/>
        </p:nvSpPr>
        <p:spPr>
          <a:xfrm>
            <a:off x="609600" y="1651000"/>
            <a:ext cx="5715000" cy="1003965"/>
          </a:xfrm>
          <a:prstGeom prst="rect">
            <a:avLst/>
          </a:prstGeom>
          <a:noFill/>
        </p:spPr>
        <p:txBody>
          <a:bodyPr wrap="none" lIns="0" rIns="0" tIns="6299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100">
                <a:latin typeface="Segoe UI"/>
              </a:defRPr>
            </a:pPr>
            <a:r>
              <a:rPr sz="3100" b="1" i="0" u="none" lang="ru-RU" kern="120000">
                <a:solidFill>
                  <a:srgbClr val="FFFFFF"/>
                </a:solidFill>
                <a:latin typeface="Segoe UI"/>
              </a:rPr>
              <a:t>Подбор и личные</a:t>
            </a:r>
            <a:br/>
            <a:r>
              <a:rPr sz="3100" b="1" i="0" u="none" lang="ru-RU" kern="120000">
                <a:solidFill>
                  <a:srgbClr val="FFFFFF"/>
                </a:solidFill>
                <a:latin typeface="Segoe UI"/>
              </a:rPr>
              <a:t>закладки реализованы</a:t>
            </a:r>
          </a:p>
        </p:txBody>
      </p:sp>
      <p:sp>
        <p:nvSpPr>
          <p:cNvPr id="4" name="P12 · 01"/>
          <p:cNvSpPr txBox="1"/>
          <p:nvPr/>
        </p:nvSpPr>
        <p:spPr>
          <a:xfrm>
            <a:off x="609600" y="33782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sp>
        <p:nvSpPr>
          <p:cNvPr id="5" name="P12 · Дата и состав видны"/>
          <p:cNvSpPr txBox="1"/>
          <p:nvPr/>
        </p:nvSpPr>
        <p:spPr>
          <a:xfrm>
            <a:off x="1219200" y="33528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Дата и состав видны</a:t>
            </a:r>
          </a:p>
        </p:txBody>
      </p:sp>
      <p:sp>
        <p:nvSpPr>
          <p:cNvPr id="6" name="P12 · 02"/>
          <p:cNvSpPr txBox="1"/>
          <p:nvPr/>
        </p:nvSpPr>
        <p:spPr>
          <a:xfrm>
            <a:off x="609600" y="41148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sp>
        <p:nvSpPr>
          <p:cNvPr id="7" name="P12 · Неизвестные условия обозначены"/>
          <p:cNvSpPr txBox="1"/>
          <p:nvPr/>
        </p:nvSpPr>
        <p:spPr>
          <a:xfrm>
            <a:off x="1219200" y="40894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Неизвестные условия обозначены</a:t>
            </a:r>
          </a:p>
        </p:txBody>
      </p:sp>
      <p:sp>
        <p:nvSpPr>
          <p:cNvPr id="8" name="P12 · 03"/>
          <p:cNvSpPr txBox="1"/>
          <p:nvPr/>
        </p:nvSpPr>
        <p:spPr>
          <a:xfrm>
            <a:off x="609600" y="48514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sp>
        <p:nvSpPr>
          <p:cNvPr id="9" name="P12 · К выбору можно вернуться"/>
          <p:cNvSpPr txBox="1"/>
          <p:nvPr/>
        </p:nvSpPr>
        <p:spPr>
          <a:xfrm>
            <a:off x="1219200" y="48260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К выбору можно вернуться</a:t>
            </a:r>
          </a:p>
        </p:txBody>
      </p:sp>
      <p:grpSp>
        <p:nvGrpSpPr>
          <p:cNvPr id="17" name="P12 · Блок схемы"/>
          <p:cNvGrpSpPr/>
          <p:nvPr/>
        </p:nvGrpSpPr>
        <p:grpSpPr>
          <a:xfrm>
            <a:off x="6629400" y="1600200"/>
            <a:ext cx="4953000" cy="4279900"/>
            <a:chOff x="6629400" y="1600200"/>
            <a:chExt cx="4953000" cy="4279900"/>
          </a:xfrm>
        </p:grpSpPr>
        <p:sp>
          <p:nvSpPr>
            <p:cNvPr id="10" name="P12 · Блок 9"/>
            <p:cNvSpPr/>
            <p:nvPr/>
          </p:nvSpPr>
          <p:spPr>
            <a:xfrm>
              <a:off x="6629400" y="1600200"/>
              <a:ext cx="4953000" cy="42799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P12 · Границы текущей версии"/>
            <p:cNvSpPr txBox="1"/>
            <p:nvPr/>
          </p:nvSpPr>
          <p:spPr>
            <a:xfrm>
              <a:off x="6908800" y="1841500"/>
              <a:ext cx="4394200" cy="388515"/>
            </a:xfrm>
            <a:prstGeom prst="rect">
              <a:avLst/>
            </a:prstGeom>
            <a:noFill/>
          </p:spPr>
          <p:txBody>
            <a:bodyPr wrap="none" lIns="0" rIns="0" tIns="4673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300">
                  <a:latin typeface="Segoe UI"/>
                </a:defRPr>
              </a:pPr>
              <a:r>
                <a:rPr sz="2300" b="1" i="0" u="none" lang="ru-RU" kern="120000">
                  <a:solidFill>
                    <a:srgbClr val="142F3D"/>
                  </a:solidFill>
                  <a:latin typeface="Segoe UI"/>
                </a:rPr>
                <a:t>Границы текущей версии</a:t>
              </a:r>
            </a:p>
          </p:txBody>
        </p:sp>
        <p:sp>
          <p:nvSpPr>
            <p:cNvPr id="12" name="P12 · Часть афиши двух городов"/>
            <p:cNvSpPr txBox="1"/>
            <p:nvPr/>
          </p:nvSpPr>
          <p:spPr>
            <a:xfrm>
              <a:off x="6908800" y="2565400"/>
              <a:ext cx="4394200" cy="304055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Часть афиши двух городов</a:t>
              </a:r>
            </a:p>
          </p:txBody>
        </p:sp>
        <p:sp>
          <p:nvSpPr>
            <p:cNvPr id="13" name="P12 · Цены и допуск могут требовать"/>
            <p:cNvSpPr txBox="1"/>
            <p:nvPr/>
          </p:nvSpPr>
          <p:spPr>
            <a:xfrm>
              <a:off x="6908800" y="3162300"/>
              <a:ext cx="4394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Цены и допуск могут требовать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уточнения; билеты не проверены</a:t>
              </a:r>
            </a:p>
          </p:txBody>
        </p:sp>
        <p:sp>
          <p:nvSpPr>
            <p:cNvPr id="14" name="P12 · Обновление запускает оператор"/>
            <p:cNvSpPr txBox="1"/>
            <p:nvPr/>
          </p:nvSpPr>
          <p:spPr>
            <a:xfrm>
              <a:off x="6908800" y="4064000"/>
              <a:ext cx="4394200" cy="304055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Обновление запускает оператор</a:t>
              </a:r>
            </a:p>
          </p:txBody>
        </p:sp>
        <p:sp>
          <p:nvSpPr>
            <p:cNvPr id="15" name="P12 · Постоянный хостинг и финальная"/>
            <p:cNvSpPr txBox="1"/>
            <p:nvPr/>
          </p:nvSpPr>
          <p:spPr>
            <a:xfrm>
              <a:off x="6908800" y="4673600"/>
              <a:ext cx="4394200" cy="861839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Постоянный хостинг и финальная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проверка в мобильном и веб-клиенте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MAX ещё предстоят</a:t>
              </a:r>
            </a:p>
          </p:txBody>
        </p:sp>
      </p:grpSp>
      <p:sp>
        <p:nvSpPr>
          <p:cNvPr id="16" name="P12 · Следующий шаг — расширить данные и подготовить постоянную оценку в MAX"/>
          <p:cNvSpPr txBox="1"/>
          <p:nvPr/>
        </p:nvSpPr>
        <p:spPr>
          <a:xfrm>
            <a:off x="609600" y="62738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FFFFFF"/>
                </a:solidFill>
                <a:latin typeface="Segoe UI"/>
              </a:rPr>
              <a:t>Следующий шаг — расширить данные и подготовить постоянную оценку в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3 · Факты и материалы, на которые мы опираемся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Факты и материалы, на которые мы опираемся</a:t>
            </a:r>
          </a:p>
        </p:txBody>
      </p:sp>
      <p:sp>
        <p:nvSpPr>
          <p:cNvPr id="3" name="P13 · События и условия посещения"/>
          <p:cNvSpPr txBox="1"/>
          <p:nvPr/>
        </p:nvSpPr>
        <p:spPr>
          <a:xfrm>
            <a:off x="609600" y="1587500"/>
            <a:ext cx="62865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События и условия посещения</a:t>
            </a:r>
          </a:p>
        </p:txBody>
      </p:sp>
      <p:sp>
        <p:nvSpPr>
          <p:cNvPr id="4" name="P13 · 01"/>
          <p:cNvSpPr txBox="1"/>
          <p:nvPr/>
        </p:nvSpPr>
        <p:spPr>
          <a:xfrm>
            <a:off x="609600" y="2298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13 · Казанский Кремль">
            <a:hlinkClick r:id="rId2"/>
          </p:cNvPr>
          <p:cNvSpPr txBox="1"/>
          <p:nvPr/>
        </p:nvSpPr>
        <p:spPr>
          <a:xfrm>
            <a:off x="1155700" y="2260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Казанский Кремль</a:t>
            </a:r>
          </a:p>
        </p:txBody>
      </p:sp>
      <p:sp>
        <p:nvSpPr>
          <p:cNvPr id="6" name="P13 · kazan-kremlin.ru">
            <a:hlinkClick r:id="rId2"/>
          </p:cNvPr>
          <p:cNvSpPr txBox="1"/>
          <p:nvPr/>
        </p:nvSpPr>
        <p:spPr>
          <a:xfrm>
            <a:off x="1155700" y="2603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kazan-kremlin.ru</a:t>
            </a:r>
          </a:p>
        </p:txBody>
      </p:sp>
      <p:sp>
        <p:nvSpPr>
          <p:cNvPr id="7" name="P13 · 02"/>
          <p:cNvSpPr txBox="1"/>
          <p:nvPr/>
        </p:nvSpPr>
        <p:spPr>
          <a:xfrm>
            <a:off x="609600" y="3060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8" name="P13 · Национальный музей Республики Татарстан">
            <a:hlinkClick r:id="rId3"/>
          </p:cNvPr>
          <p:cNvSpPr txBox="1"/>
          <p:nvPr/>
        </p:nvSpPr>
        <p:spPr>
          <a:xfrm>
            <a:off x="1155700" y="3022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Национальный музей Республики Татарстан</a:t>
            </a:r>
          </a:p>
        </p:txBody>
      </p:sp>
      <p:sp>
        <p:nvSpPr>
          <p:cNvPr id="9" name="P13 · tatmuseum.ru/events">
            <a:hlinkClick r:id="rId3"/>
          </p:cNvPr>
          <p:cNvSpPr txBox="1"/>
          <p:nvPr/>
        </p:nvSpPr>
        <p:spPr>
          <a:xfrm>
            <a:off x="1155700" y="3365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tatmuseum.ru/events</a:t>
            </a:r>
          </a:p>
        </p:txBody>
      </p:sp>
      <p:sp>
        <p:nvSpPr>
          <p:cNvPr id="10" name="P13 · 03"/>
          <p:cNvSpPr txBox="1"/>
          <p:nvPr/>
        </p:nvSpPr>
        <p:spPr>
          <a:xfrm>
            <a:off x="609600" y="3822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1" name="P13 · Музей истории Екатеринбурга">
            <a:hlinkClick r:id="rId4"/>
          </p:cNvPr>
          <p:cNvSpPr txBox="1"/>
          <p:nvPr/>
        </p:nvSpPr>
        <p:spPr>
          <a:xfrm>
            <a:off x="1155700" y="3784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Музей истории Екатеринбурга</a:t>
            </a:r>
          </a:p>
        </p:txBody>
      </p:sp>
      <p:sp>
        <p:nvSpPr>
          <p:cNvPr id="12" name="P13 · m-i-e.ru">
            <a:hlinkClick r:id="rId4"/>
          </p:cNvPr>
          <p:cNvSpPr txBox="1"/>
          <p:nvPr/>
        </p:nvSpPr>
        <p:spPr>
          <a:xfrm>
            <a:off x="1155700" y="4127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m-i-e.ru</a:t>
            </a:r>
          </a:p>
        </p:txBody>
      </p:sp>
      <p:sp>
        <p:nvSpPr>
          <p:cNvPr id="13" name="P13 · 04"/>
          <p:cNvSpPr txBox="1"/>
          <p:nvPr/>
        </p:nvSpPr>
        <p:spPr>
          <a:xfrm>
            <a:off x="609600" y="4584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4" name="P13 · Урал Опера Балет">
            <a:hlinkClick r:id="rId5"/>
          </p:cNvPr>
          <p:cNvSpPr txBox="1"/>
          <p:nvPr/>
        </p:nvSpPr>
        <p:spPr>
          <a:xfrm>
            <a:off x="1155700" y="4546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Урал Опера Балет</a:t>
            </a:r>
          </a:p>
        </p:txBody>
      </p:sp>
      <p:sp>
        <p:nvSpPr>
          <p:cNvPr id="15" name="P13 · uralopera.ru">
            <a:hlinkClick r:id="rId5"/>
          </p:cNvPr>
          <p:cNvSpPr txBox="1"/>
          <p:nvPr/>
        </p:nvSpPr>
        <p:spPr>
          <a:xfrm>
            <a:off x="1155700" y="4889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uralopera.ru</a:t>
            </a:r>
          </a:p>
        </p:txBody>
      </p:sp>
      <p:sp>
        <p:nvSpPr>
          <p:cNvPr id="16" name="P13 · 05"/>
          <p:cNvSpPr txBox="1"/>
          <p:nvPr/>
        </p:nvSpPr>
        <p:spPr>
          <a:xfrm>
            <a:off x="609600" y="5346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05</a:t>
            </a:r>
          </a:p>
        </p:txBody>
      </p:sp>
      <p:sp>
        <p:nvSpPr>
          <p:cNvPr id="17" name="P13 · Свердловская филармония">
            <a:hlinkClick r:id="rId6"/>
          </p:cNvPr>
          <p:cNvSpPr txBox="1"/>
          <p:nvPr/>
        </p:nvSpPr>
        <p:spPr>
          <a:xfrm>
            <a:off x="1155700" y="5308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Свердловская филармония</a:t>
            </a:r>
          </a:p>
        </p:txBody>
      </p:sp>
      <p:sp>
        <p:nvSpPr>
          <p:cNvPr id="18" name="P13 · sgaf.ru">
            <a:hlinkClick r:id="rId6"/>
          </p:cNvPr>
          <p:cNvSpPr txBox="1"/>
          <p:nvPr/>
        </p:nvSpPr>
        <p:spPr>
          <a:xfrm>
            <a:off x="1155700" y="5651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sgaf.ru</a:t>
            </a:r>
          </a:p>
        </p:txBody>
      </p:sp>
      <p:grpSp>
        <p:nvGrpSpPr>
          <p:cNvPr id="32" name="P13 · Блок схемы"/>
          <p:cNvGrpSpPr/>
          <p:nvPr/>
        </p:nvGrpSpPr>
        <p:grpSpPr>
          <a:xfrm>
            <a:off x="7391400" y="1460500"/>
            <a:ext cx="4191000" cy="4826000"/>
            <a:chOff x="7391400" y="1460500"/>
            <a:chExt cx="4191000" cy="4826000"/>
          </a:xfrm>
        </p:grpSpPr>
        <p:sp>
          <p:nvSpPr>
            <p:cNvPr id="19" name="P13 · Блок 18"/>
            <p:cNvSpPr/>
            <p:nvPr/>
          </p:nvSpPr>
          <p:spPr>
            <a:xfrm>
              <a:off x="7391400" y="1460500"/>
              <a:ext cx="4191000" cy="48260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P13 · Реализация и требования"/>
            <p:cNvSpPr txBox="1"/>
            <p:nvPr/>
          </p:nvSpPr>
          <p:spPr>
            <a:xfrm>
              <a:off x="7645400" y="1676400"/>
              <a:ext cx="36830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42F3D"/>
                  </a:solidFill>
                  <a:latin typeface="Segoe UI"/>
                </a:rPr>
                <a:t>Реализация и требования</a:t>
              </a:r>
            </a:p>
          </p:txBody>
        </p:sp>
        <p:sp>
          <p:nvSpPr>
            <p:cNvPr id="21" name="P13 · MAX API">
              <a:hlinkClick r:id="rId7"/>
            </p:cNvPr>
            <p:cNvSpPr txBox="1"/>
            <p:nvPr/>
          </p:nvSpPr>
          <p:spPr>
            <a:xfrm>
              <a:off x="7645400" y="22860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MAX API</a:t>
              </a:r>
            </a:p>
          </p:txBody>
        </p:sp>
        <p:sp>
          <p:nvSpPr>
            <p:cNvPr id="22" name="P13 · Официальные контракты платформы">
              <a:hlinkClick r:id="rId7"/>
            </p:cNvPr>
            <p:cNvSpPr txBox="1"/>
            <p:nvPr/>
          </p:nvSpPr>
          <p:spPr>
            <a:xfrm>
              <a:off x="7645400" y="26543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Официальные контракты платформы</a:t>
              </a:r>
            </a:p>
          </p:txBody>
        </p:sp>
        <p:sp>
          <p:nvSpPr>
            <p:cNvPr id="23" name="P13 · Код и инструкция">
              <a:hlinkClick r:id="rId8"/>
            </p:cNvPr>
            <p:cNvSpPr txBox="1"/>
            <p:nvPr/>
          </p:nvSpPr>
          <p:spPr>
            <a:xfrm>
              <a:off x="7645400" y="30607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Код и инструкция</a:t>
              </a:r>
            </a:p>
          </p:txBody>
        </p:sp>
        <p:sp>
          <p:nvSpPr>
            <p:cNvPr id="24" name="P13 · Репозиторий HackMaxBot2026">
              <a:hlinkClick r:id="rId8"/>
            </p:cNvPr>
            <p:cNvSpPr txBox="1"/>
            <p:nvPr/>
          </p:nvSpPr>
          <p:spPr>
            <a:xfrm>
              <a:off x="7645400" y="34290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Репозиторий HackMaxBot2026</a:t>
              </a:r>
            </a:p>
          </p:txBody>
        </p:sp>
        <p:sp>
          <p:nvSpPr>
            <p:cNvPr id="25" name="P13 · Каталог и ограничения">
              <a:hlinkClick r:id="rId9"/>
            </p:cNvPr>
            <p:cNvSpPr txBox="1"/>
            <p:nvPr/>
          </p:nvSpPr>
          <p:spPr>
            <a:xfrm>
              <a:off x="7645400" y="38354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Каталог и ограничения</a:t>
              </a:r>
            </a:p>
          </p:txBody>
        </p:sp>
        <p:sp>
          <p:nvSpPr>
            <p:cNvPr id="26" name="P13 · Инвентаризация пяти источников">
              <a:hlinkClick r:id="rId9"/>
            </p:cNvPr>
            <p:cNvSpPr txBox="1"/>
            <p:nvPr/>
          </p:nvSpPr>
          <p:spPr>
            <a:xfrm>
              <a:off x="7645400" y="42037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Инвентаризация пяти источников</a:t>
              </a:r>
            </a:p>
          </p:txBody>
        </p:sp>
        <p:sp>
          <p:nvSpPr>
            <p:cNvPr id="27" name="P13 · Результаты проверок">
              <a:hlinkClick r:id="rId10"/>
            </p:cNvPr>
            <p:cNvSpPr txBox="1"/>
            <p:nvPr/>
          </p:nvSpPr>
          <p:spPr>
            <a:xfrm>
              <a:off x="7645400" y="46101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Результаты проверок</a:t>
              </a:r>
            </a:p>
          </p:txBody>
        </p:sp>
        <p:sp>
          <p:nvSpPr>
            <p:cNvPr id="28" name="P13 · Квитанция 26.09.2026">
              <a:hlinkClick r:id="rId10"/>
            </p:cNvPr>
            <p:cNvSpPr txBox="1"/>
            <p:nvPr/>
          </p:nvSpPr>
          <p:spPr>
            <a:xfrm>
              <a:off x="7645400" y="49784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Квитанция 26.09.2026</a:t>
              </a:r>
            </a:p>
          </p:txBody>
        </p:sp>
        <p:sp>
          <p:nvSpPr>
            <p:cNvPr id="29" name="P13 · Задание организаторов"/>
            <p:cNvSpPr txBox="1"/>
            <p:nvPr/>
          </p:nvSpPr>
          <p:spPr>
            <a:xfrm>
              <a:off x="7645400" y="53848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Задание организаторов</a:t>
              </a:r>
            </a:p>
          </p:txBody>
        </p:sp>
        <p:sp>
          <p:nvSpPr>
            <p:cNvPr id="30" name="P13 · «Досуг и развлечения», стр. 9–10, 12"/>
            <p:cNvSpPr txBox="1"/>
            <p:nvPr/>
          </p:nvSpPr>
          <p:spPr>
            <a:xfrm>
              <a:off x="7645400" y="57531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«Досуг и развлечения», стр. 9–10, 12</a:t>
              </a:r>
            </a:p>
          </p:txBody>
        </p:sp>
      </p:grpSp>
      <p:sp>
        <p:nvSpPr>
          <p:cNvPr id="31" name="P13 · Используются минимальные факты со ссылками; партнёрства с учреждениями"/>
          <p:cNvSpPr txBox="1"/>
          <p:nvPr/>
        </p:nvSpPr>
        <p:spPr>
          <a:xfrm>
            <a:off x="609600" y="6438900"/>
            <a:ext cx="10972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Используются минимальные факты со ссылками; партнёрства с учреждениями не заявлены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Культурный план — предпросмотр сдачи</dc:title>
  <dc:subject>Продукт, сценарий, реализация и развитие</dc:subject>
  <dc:creator>Садыков Булат; Бастанов Айрат; Белова Маргарита</dc:creator>
  <cp:keywords/>
  <dc:description>Редактируемый экспорт исходной презентации</dc:description>
  <cp:lastModifiedBy/>
  <cp:revision>1</cp:revision>
  <dcterms:created xsi:type="dcterms:W3CDTF">2026-09-27T00:00:00Z</dcterms:created>
  <dcterms:modified xsi:type="dcterms:W3CDTF">2026-09-27T00:00:00Z</dcterms:modified>
  <cp:category/>
</cp:coreProperties>
</file>